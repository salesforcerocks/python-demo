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669" y="1819275"/>
            <a:ext cx="8290661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Code: From Tool to Software Factory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2899871" y="2955875"/>
            <a:ext cx="334425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D5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Jaap Branderhorst, Appventures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195829" y="4610100"/>
            <a:ext cx="7521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6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0"/>
              </a:spcBef>
              <a:spcAft>
                <a:spcPts val="2000"/>
              </a:spcAft>
              <a:buNone/>
            </a:pPr>
            <a:r>
              <a:rPr lang="en-US" sz="28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Me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1171426"/>
            <a:ext cx="8128099" cy="1340793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352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Salesforce managed package projects</a:t>
            </a:r>
            <a:endParaRPr lang="en-US" sz="1600" dirty="0"/>
          </a:p>
          <a:p>
            <a:pPr algn="l" marL="152400" indent="-152400">
              <a:lnSpc>
                <a:spcPts val="352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 months with Claude Code</a:t>
            </a:r>
            <a:endParaRPr lang="en-US" sz="1600" dirty="0"/>
          </a:p>
          <a:p>
            <a:pPr algn="l" marL="152400" indent="-152400">
              <a:lnSpc>
                <a:spcPts val="352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Appventures — Salesforce ISV consultancy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0"/>
              </a:spcBef>
              <a:spcAft>
                <a:spcPts val="2000"/>
              </a:spcAft>
              <a:buNone/>
            </a:pPr>
            <a:r>
              <a:rPr lang="en-US" sz="28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6050" y="1171426"/>
            <a:ext cx="0" cy="1523702"/>
          </a:xfrm>
          <a:prstGeom prst="line">
            <a:avLst/>
          </a:prstGeom>
          <a:noFill/>
          <a:ln w="76200">
            <a:solidFill>
              <a:srgbClr val="27788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38051" y="1374577"/>
            <a:ext cx="76949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accounting system on Salesforce in 3 days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38051" y="1850827"/>
            <a:ext cx="769498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timeline: 6-12 months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38051" y="2171402"/>
            <a:ext cx="769498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quality: higher than manual coding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7950" y="4483150"/>
            <a:ext cx="8290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79"/>
              </a:spcBef>
              <a:spcAft>
                <a:spcPts val="4000"/>
              </a:spcAft>
              <a:buNone/>
            </a:pPr>
            <a:r>
              <a:rPr lang="en-US" sz="11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Here's how.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0"/>
              </a:spcBef>
              <a:spcAft>
                <a:spcPts val="2000"/>
              </a:spcAft>
              <a:buNone/>
            </a:pPr>
            <a:r>
              <a:rPr lang="en-US" sz="28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Out of the Box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1171426"/>
            <a:ext cx="8128099" cy="1787723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352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Chat, generate code, hope for the best</a:t>
            </a:r>
            <a:endParaRPr lang="en-US" sz="1600" dirty="0"/>
          </a:p>
          <a:p>
            <a:pPr algn="l" marL="152400" indent="-152400">
              <a:lnSpc>
                <a:spcPts val="352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Copy-paste driven development</a:t>
            </a:r>
            <a:endParaRPr lang="en-US" sz="1600" dirty="0"/>
          </a:p>
          <a:p>
            <a:pPr algn="l" marL="152400" indent="-152400">
              <a:lnSpc>
                <a:spcPts val="352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for small tasks</a:t>
            </a:r>
            <a:endParaRPr lang="en-US" sz="1600" dirty="0"/>
          </a:p>
          <a:p>
            <a:pPr algn="l" marL="152400" indent="-152400">
              <a:lnSpc>
                <a:spcPts val="352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Breaks down on real projects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0"/>
              </a:spcBef>
              <a:spcAft>
                <a:spcPts val="2000"/>
              </a:spcAft>
              <a:buNone/>
            </a:pPr>
            <a:r>
              <a:rPr lang="en-US" sz="28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Scaling Wall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1171426"/>
            <a:ext cx="8128099" cy="190500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Inconsistency across files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loss between sessions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quality gates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mistakes repeated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'It works on my prompt' syndrome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18106" y="2103388"/>
            <a:ext cx="6307788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is not a code generator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396426" y="2716113"/>
            <a:ext cx="235099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an orchestrator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81000"/>
            <a:ext cx="829066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0"/>
              </a:spcBef>
              <a:spcAft>
                <a:spcPts val="1600"/>
              </a:spcAft>
              <a:buNone/>
            </a:pPr>
            <a:r>
              <a:rPr lang="en-US" sz="26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Agentic Software Factory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936653" y="2000399"/>
            <a:ext cx="1270546" cy="453926"/>
          </a:xfrm>
          <a:prstGeom prst="roundRect">
            <a:avLst>
              <a:gd name="adj" fmla="val 16787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286609" y="2127349"/>
            <a:ext cx="5706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14850" y="2505075"/>
            <a:ext cx="11658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549426" y="2822525"/>
            <a:ext cx="4045148" cy="453926"/>
          </a:xfrm>
          <a:prstGeom prst="roundRect">
            <a:avLst>
              <a:gd name="adj" fmla="val 16787"/>
            </a:avLst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871636" y="2949476"/>
            <a:ext cx="34007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(Claude Code + CLAUDE.md)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14850" y="3327202"/>
            <a:ext cx="11658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554486" y="3644652"/>
            <a:ext cx="1270546" cy="453926"/>
          </a:xfrm>
          <a:prstGeom prst="roundRect">
            <a:avLst>
              <a:gd name="adj" fmla="val 16787"/>
            </a:avLst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904442" y="3771602"/>
            <a:ext cx="5706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28182" y="3644652"/>
            <a:ext cx="1142405" cy="453926"/>
          </a:xfrm>
          <a:prstGeom prst="roundRect">
            <a:avLst>
              <a:gd name="adj" fmla="val 16787"/>
            </a:avLst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379419" y="3771602"/>
            <a:ext cx="4399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73737" y="3644652"/>
            <a:ext cx="1215628" cy="453926"/>
          </a:xfrm>
          <a:prstGeom prst="roundRect">
            <a:avLst>
              <a:gd name="adj" fmla="val 16787"/>
            </a:avLst>
          </a:prstGeom>
          <a:solidFill>
            <a:srgbClr val="3A9A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724242" y="3771602"/>
            <a:ext cx="51461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0"/>
              </a:spcBef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968276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600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specialists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7950" y="1409551"/>
            <a:ext cx="8128099" cy="152400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developer: designs + implements + self-reviews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Fewer, more capable agents &gt; many narrow ones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responsibilities and boundaries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Model-aware: right model for the right task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0"/>
              </a:spcBef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968276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600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Injectable domain knowledge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7950" y="1409551"/>
            <a:ext cx="8128099" cy="1778496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800"/>
              </a:lnSpc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scaling mechanism</a:t>
            </a:r>
            <a:endParaRPr lang="en-US" sz="1400" dirty="0"/>
          </a:p>
          <a:p>
            <a:pPr algn="l" marL="152400" indent="-152400">
              <a:lnSpc>
                <a:spcPts val="2800"/>
              </a:lnSpc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Reuse across projects</a:t>
            </a:r>
            <a:endParaRPr lang="en-US" sz="1400" dirty="0"/>
          </a:p>
          <a:p>
            <a:pPr algn="l" marL="152400" indent="-152400">
              <a:lnSpc>
                <a:spcPts val="2800"/>
              </a:lnSpc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fairness-metrics skill for ML domain knowledge</a:t>
            </a:r>
            <a:endParaRPr lang="en-US" sz="1400" dirty="0"/>
          </a:p>
          <a:p>
            <a:pPr algn="l" marL="152400" indent="-152400">
              <a:lnSpc>
                <a:spcPts val="2800"/>
              </a:lnSpc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skills work across 3 different projects</a:t>
            </a:r>
            <a:endParaRPr lang="en-US" sz="1400" dirty="0"/>
          </a:p>
          <a:p>
            <a:pPr algn="l" marL="152400" indent="-152400">
              <a:lnSpc>
                <a:spcPts val="2800"/>
              </a:lnSpc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project bootstraps in hours, not days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0"/>
              </a:spcBef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968276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600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guardrails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7950" y="1409551"/>
            <a:ext cx="8128099" cy="1787723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352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 mistakes before they happen</a:t>
            </a:r>
            <a:endParaRPr lang="en-US" sz="1600" dirty="0"/>
          </a:p>
          <a:p>
            <a:pPr algn="l" marL="152400" indent="-152400">
              <a:lnSpc>
                <a:spcPts val="352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branch naming validation</a:t>
            </a:r>
            <a:endParaRPr lang="en-US" sz="1600" dirty="0"/>
          </a:p>
          <a:p>
            <a:pPr algn="l" marL="152400" indent="-152400">
              <a:lnSpc>
                <a:spcPts val="352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cognitive load — just works</a:t>
            </a:r>
            <a:endParaRPr lang="en-US" sz="1600" dirty="0"/>
          </a:p>
          <a:p>
            <a:pPr algn="l" marL="152400" indent="-152400">
              <a:lnSpc>
                <a:spcPts val="352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Shift-left quality control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0"/>
              </a:spcBef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968276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600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orchestrator's constitution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7950" y="1409551"/>
            <a:ext cx="8128099" cy="160020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315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rules and quality gates</a:t>
            </a:r>
            <a:endParaRPr lang="en-US" sz="1500" dirty="0"/>
          </a:p>
          <a:p>
            <a:pPr algn="l" marL="152400" indent="-152400">
              <a:lnSpc>
                <a:spcPts val="315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Non-negotiables list</a:t>
            </a:r>
            <a:endParaRPr lang="en-US" sz="1500" dirty="0"/>
          </a:p>
          <a:p>
            <a:pPr algn="l" marL="152400" indent="-152400">
              <a:lnSpc>
                <a:spcPts val="315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Primacy clause — these rules always win</a:t>
            </a:r>
            <a:endParaRPr lang="en-US" sz="1500" dirty="0"/>
          </a:p>
          <a:p>
            <a:pPr algn="l" marL="152400" indent="-152400">
              <a:lnSpc>
                <a:spcPts val="315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team's engineering handbook, machine-readable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55550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800"/>
              </a:spcBef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Pipeline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7950" y="885676"/>
            <a:ext cx="822871" cy="269677"/>
          </a:xfrm>
          <a:prstGeom prst="roundRect">
            <a:avLst>
              <a:gd name="adj" fmla="val 18837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34901" y="949077"/>
            <a:ext cx="580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Agent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07021" y="934789"/>
            <a:ext cx="1554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635621" y="885676"/>
            <a:ext cx="959495" cy="269677"/>
          </a:xfrm>
          <a:prstGeom prst="roundRect">
            <a:avLst>
              <a:gd name="adj" fmla="val 18837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762571" y="949077"/>
            <a:ext cx="7197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(DoR)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71316" y="934789"/>
            <a:ext cx="1554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99916" y="885676"/>
            <a:ext cx="1185416" cy="269677"/>
          </a:xfrm>
          <a:prstGeom prst="roundRect">
            <a:avLst>
              <a:gd name="adj" fmla="val 18837"/>
            </a:avLst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026866" y="949077"/>
            <a:ext cx="9501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reviews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3109" y="1206103"/>
            <a:ext cx="80316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7950" y="1428304"/>
            <a:ext cx="1468041" cy="269677"/>
          </a:xfrm>
          <a:prstGeom prst="roundRect">
            <a:avLst>
              <a:gd name="adj" fmla="val 18837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4901" y="1491704"/>
            <a:ext cx="12384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assesses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52191" y="1477417"/>
            <a:ext cx="1554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280791" y="1428304"/>
            <a:ext cx="1495871" cy="269677"/>
          </a:xfrm>
          <a:prstGeom prst="roundRect">
            <a:avLst>
              <a:gd name="adj" fmla="val 18837"/>
            </a:avLst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407741" y="1491704"/>
            <a:ext cx="12668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answered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3109" y="1748730"/>
            <a:ext cx="80316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7950" y="1970931"/>
            <a:ext cx="1164282" cy="269677"/>
          </a:xfrm>
          <a:prstGeom prst="roundRect">
            <a:avLst>
              <a:gd name="adj" fmla="val 18837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4901" y="2034332"/>
            <a:ext cx="9285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created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748433" y="2020044"/>
            <a:ext cx="1554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977033" y="1970931"/>
            <a:ext cx="1679525" cy="269677"/>
          </a:xfrm>
          <a:prstGeom prst="roundRect">
            <a:avLst>
              <a:gd name="adj" fmla="val 18837"/>
            </a:avLst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103983" y="2034332"/>
            <a:ext cx="145413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review loop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3109" y="2291358"/>
            <a:ext cx="80316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7950" y="2513558"/>
            <a:ext cx="1728490" cy="269677"/>
          </a:xfrm>
          <a:prstGeom prst="roundRect">
            <a:avLst>
              <a:gd name="adj" fmla="val 18837"/>
            </a:avLst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34901" y="2576959"/>
            <a:ext cx="15040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approves design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3109" y="2833985"/>
            <a:ext cx="80316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7950" y="3056186"/>
            <a:ext cx="1488430" cy="269677"/>
          </a:xfrm>
          <a:prstGeom prst="roundRect">
            <a:avLst>
              <a:gd name="adj" fmla="val 18837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34901" y="3119586"/>
            <a:ext cx="12592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TDD implementation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072580" y="3105299"/>
            <a:ext cx="1554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301180" y="3056186"/>
            <a:ext cx="1679525" cy="269677"/>
          </a:xfrm>
          <a:prstGeom prst="roundRect">
            <a:avLst>
              <a:gd name="adj" fmla="val 18837"/>
            </a:avLst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2428131" y="3119586"/>
            <a:ext cx="145413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review loop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83109" y="3376613"/>
            <a:ext cx="80316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7950" y="3598813"/>
            <a:ext cx="1615678" cy="269677"/>
          </a:xfrm>
          <a:prstGeom prst="roundRect">
            <a:avLst>
              <a:gd name="adj" fmla="val 18837"/>
            </a:avLst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34901" y="3662214"/>
            <a:ext cx="13890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approves code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199829" y="3647926"/>
            <a:ext cx="1554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428429" y="3598813"/>
            <a:ext cx="430411" cy="269677"/>
          </a:xfrm>
          <a:prstGeom prst="roundRect">
            <a:avLst>
              <a:gd name="adj" fmla="val 18837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555379" y="3662214"/>
            <a:ext cx="1800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457200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600"/>
              </a:spcBef>
              <a:spcAft>
                <a:spcPts val="2000"/>
              </a:spcAft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Automated Review Loops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7950" y="1063526"/>
            <a:ext cx="3911650" cy="2965698"/>
          </a:xfrm>
          <a:prstGeom prst="roundRect">
            <a:avLst>
              <a:gd name="adj" fmla="val 256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07950" y="1087338"/>
            <a:ext cx="3911650" cy="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1101" y="1314301"/>
            <a:ext cx="357545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Review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11101" y="1704826"/>
            <a:ext cx="3505349" cy="940743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247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agent ↔ Fresh opus instance</a:t>
            </a:r>
            <a:endParaRPr lang="en-US" sz="1300" dirty="0"/>
          </a:p>
          <a:p>
            <a:pPr algn="l" marL="114300" indent="-114300">
              <a:lnSpc>
                <a:spcPts val="247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prompt</a:t>
            </a:r>
            <a:endParaRPr lang="en-US" sz="1300" dirty="0"/>
          </a:p>
          <a:p>
            <a:pPr algn="l" marL="114300" indent="-114300">
              <a:lnSpc>
                <a:spcPts val="247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Cycles until convergence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24400" y="1063526"/>
            <a:ext cx="3911650" cy="2965698"/>
          </a:xfrm>
          <a:prstGeom prst="roundRect">
            <a:avLst>
              <a:gd name="adj" fmla="val 256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724400" y="1087338"/>
            <a:ext cx="3911650" cy="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27550" y="1314301"/>
            <a:ext cx="357545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27550" y="1704826"/>
            <a:ext cx="3505349" cy="940743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247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agent ↔ Fresh opus instance</a:t>
            </a:r>
            <a:endParaRPr lang="en-US" sz="1300" dirty="0"/>
          </a:p>
          <a:p>
            <a:pPr algn="l" marL="114300" indent="-114300">
              <a:lnSpc>
                <a:spcPts val="247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prompt</a:t>
            </a:r>
            <a:endParaRPr lang="en-US" sz="1300" dirty="0"/>
          </a:p>
          <a:p>
            <a:pPr algn="l" marL="114300" indent="-114300">
              <a:lnSpc>
                <a:spcPts val="247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Cycles until convergence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6050" y="4232374"/>
            <a:ext cx="0" cy="453926"/>
          </a:xfrm>
          <a:prstGeom prst="line">
            <a:avLst/>
          </a:prstGeom>
          <a:noFill/>
          <a:ln w="76200">
            <a:solidFill>
              <a:srgbClr val="27788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7301" y="4359325"/>
            <a:ext cx="77985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only reviews AFTER automated convergence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0"/>
              </a:spcBef>
              <a:spcAft>
                <a:spcPts val="2000"/>
              </a:spcAft>
              <a:buNone/>
            </a:pPr>
            <a:r>
              <a:rPr lang="en-US" sz="28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TDD as a Forcing Function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1171426"/>
            <a:ext cx="8128099" cy="190500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acceptance criterion → a test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written FIRST, implementation second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 coverage minimum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clarity of requirements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Catches regressions automatically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0"/>
              </a:spcBef>
              <a:spcAft>
                <a:spcPts val="2000"/>
              </a:spcAft>
              <a:buNone/>
            </a:pPr>
            <a:r>
              <a:rPr lang="en-US" sz="26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Discipline &amp; Escalation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7950" y="1133326"/>
            <a:ext cx="8128099" cy="160020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315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know when to stop and ask</a:t>
            </a:r>
            <a:endParaRPr lang="en-US" sz="1500" dirty="0"/>
          </a:p>
          <a:p>
            <a:pPr algn="l" marL="152400" indent="-152400">
              <a:lnSpc>
                <a:spcPts val="315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guess — use AskUserQuestion</a:t>
            </a:r>
            <a:endParaRPr lang="en-US" sz="1500" dirty="0"/>
          </a:p>
          <a:p>
            <a:pPr algn="l" marL="152400" indent="-152400">
              <a:lnSpc>
                <a:spcPts val="315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Prevents the #1 time waster: agents going off-script</a:t>
            </a:r>
            <a:endParaRPr lang="en-US" sz="1500" dirty="0"/>
          </a:p>
          <a:p>
            <a:pPr algn="l" marL="152400" indent="-152400">
              <a:lnSpc>
                <a:spcPts val="315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Non-negotiables list as guardrails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24582" y="1909911"/>
            <a:ext cx="2694837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10% Rule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2155878" y="2554337"/>
            <a:ext cx="483209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D5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 ~10% of project time improving your AI tooling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94137" y="2893963"/>
            <a:ext cx="395572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D5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develop tooling alongside your product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81000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0"/>
              </a:spcBef>
              <a:spcAft>
                <a:spcPts val="1600"/>
              </a:spcAft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Deming Cycle for AI Tooling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2336750" y="936575"/>
            <a:ext cx="2158901" cy="888950"/>
          </a:xfrm>
          <a:prstGeom prst="roundRect">
            <a:avLst>
              <a:gd name="adj" fmla="val 8572"/>
            </a:avLst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174802" y="1247626"/>
            <a:ext cx="49245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648051" y="936575"/>
            <a:ext cx="2158901" cy="888950"/>
          </a:xfrm>
          <a:prstGeom prst="roundRect">
            <a:avLst>
              <a:gd name="adj" fmla="val 8572"/>
            </a:avLst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575102" y="1247626"/>
            <a:ext cx="3108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336750" y="1977926"/>
            <a:ext cx="2158901" cy="888950"/>
          </a:xfrm>
          <a:prstGeom prst="roundRect">
            <a:avLst>
              <a:gd name="adj" fmla="val 8572"/>
            </a:avLst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073003" y="2288977"/>
            <a:ext cx="6999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648051" y="1977926"/>
            <a:ext cx="2158901" cy="888950"/>
          </a:xfrm>
          <a:prstGeom prst="roundRect">
            <a:avLst>
              <a:gd name="adj" fmla="val 8572"/>
            </a:avLst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543252" y="2288977"/>
            <a:ext cx="3757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26669" y="3120777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works today may not work next month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6669" y="3371552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failed before may work now (models improve!)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81000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0"/>
              </a:spcBef>
              <a:spcAft>
                <a:spcPts val="1600"/>
              </a:spcAft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Evolution: Agent Consolidation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7950" y="936575"/>
            <a:ext cx="3937099" cy="1211163"/>
          </a:xfrm>
          <a:prstGeom prst="roundRect">
            <a:avLst>
              <a:gd name="adj" fmla="val 629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07950" y="960388"/>
            <a:ext cx="3937099" cy="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651" y="1161901"/>
            <a:ext cx="365333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651" y="1482477"/>
            <a:ext cx="3653332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agents per technology: Architect + Developer + Reviewer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698950" y="936575"/>
            <a:ext cx="3937099" cy="1211163"/>
          </a:xfrm>
          <a:prstGeom prst="roundRect">
            <a:avLst>
              <a:gd name="adj" fmla="val 629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698950" y="960388"/>
            <a:ext cx="3937099" cy="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76651" y="1161901"/>
            <a:ext cx="365333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76651" y="1482477"/>
            <a:ext cx="3653332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developer agent (designs + implements)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7950" y="2325439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 Overlap, wasted tokens, context lost in handoffs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6050" y="2652415"/>
            <a:ext cx="0" cy="453926"/>
          </a:xfrm>
          <a:prstGeom prst="line">
            <a:avLst/>
          </a:prstGeom>
          <a:noFill/>
          <a:ln w="76200">
            <a:solidFill>
              <a:srgbClr val="2778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7301" y="2779365"/>
            <a:ext cx="77985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Lesson: Fewer, more capable agents beat many narrow ones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81000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0"/>
              </a:spcBef>
              <a:spcAft>
                <a:spcPts val="1600"/>
              </a:spcAft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Evolution: The Reviewer Problem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7950" y="936575"/>
            <a:ext cx="3937099" cy="1211163"/>
          </a:xfrm>
          <a:prstGeom prst="roundRect">
            <a:avLst>
              <a:gd name="adj" fmla="val 629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07950" y="960388"/>
            <a:ext cx="3937099" cy="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651" y="1161901"/>
            <a:ext cx="365333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651" y="1482477"/>
            <a:ext cx="3653332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haiku reviewer — cheap, fast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698950" y="936575"/>
            <a:ext cx="3937099" cy="1211163"/>
          </a:xfrm>
          <a:prstGeom prst="roundRect">
            <a:avLst>
              <a:gd name="adj" fmla="val 629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698950" y="960388"/>
            <a:ext cx="3937099" cy="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76651" y="1161901"/>
            <a:ext cx="365333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76651" y="1482477"/>
            <a:ext cx="3653332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opus instance, adversarial prompt, automated loop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7950" y="2325439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 Only 'checkbox' reviews, no real quality insight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6050" y="2652415"/>
            <a:ext cx="0" cy="482501"/>
          </a:xfrm>
          <a:prstGeom prst="line">
            <a:avLst/>
          </a:prstGeom>
          <a:noFill/>
          <a:ln w="76200">
            <a:solidFill>
              <a:srgbClr val="2778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7301" y="2779365"/>
            <a:ext cx="77985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need: (a) fresh eyes (b) cognitive depth (c) automated iteration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81000"/>
            <a:ext cx="829066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0"/>
              </a:spcBef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Evolution: Skills as the Scaling Lever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7950" y="908000"/>
            <a:ext cx="3937099" cy="1211163"/>
          </a:xfrm>
          <a:prstGeom prst="roundRect">
            <a:avLst>
              <a:gd name="adj" fmla="val 629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07950" y="931813"/>
            <a:ext cx="3937099" cy="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651" y="1133326"/>
            <a:ext cx="365333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651" y="1453902"/>
            <a:ext cx="3653332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in agent definitions (long, unwieldy prompts)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698950" y="908000"/>
            <a:ext cx="3937099" cy="1211163"/>
          </a:xfrm>
          <a:prstGeom prst="roundRect">
            <a:avLst>
              <a:gd name="adj" fmla="val 629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698950" y="931813"/>
            <a:ext cx="3937099" cy="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76651" y="1133326"/>
            <a:ext cx="365333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76651" y="1453902"/>
            <a:ext cx="3653332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Lightweight agents + injectable domain expertise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7950" y="2296864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skills reused across 3 projects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6050" y="2623840"/>
            <a:ext cx="0" cy="453926"/>
          </a:xfrm>
          <a:prstGeom prst="line">
            <a:avLst/>
          </a:prstGeom>
          <a:noFill/>
          <a:ln w="76200">
            <a:solidFill>
              <a:srgbClr val="2778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7301" y="2750790"/>
            <a:ext cx="77985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project bootstraps in hours, not days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45720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600"/>
              </a:spcBef>
              <a:spcAft>
                <a:spcPts val="200"/>
              </a:spcAft>
              <a:buNone/>
            </a:pPr>
            <a:r>
              <a:rPr lang="en-US" sz="28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Paradox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892076"/>
            <a:ext cx="82906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800"/>
              </a:spcAft>
              <a:buNone/>
            </a:pPr>
            <a:r>
              <a:rPr lang="en-US" sz="1800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Constraints = More Productivity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7950" y="1387376"/>
            <a:ext cx="8128099" cy="152400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Non-negotiables list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discipline rules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Escalation rules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Primacy clause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6050" y="3165277"/>
            <a:ext cx="0" cy="463451"/>
          </a:xfrm>
          <a:prstGeom prst="line">
            <a:avLst/>
          </a:prstGeom>
          <a:noFill/>
          <a:ln w="76200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7301" y="3292227"/>
            <a:ext cx="77985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#1 time sink: fixing what the agent shouldn't have done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45720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600"/>
              </a:spcBef>
              <a:spcAft>
                <a:spcPts val="2000"/>
              </a:spcAft>
              <a:buNone/>
            </a:pPr>
            <a:r>
              <a:rPr lang="en-US" sz="28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Forces of Change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1120676"/>
            <a:ext cx="8128099" cy="8507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46050" y="1120676"/>
            <a:ext cx="0" cy="850702"/>
          </a:xfrm>
          <a:prstGeom prst="line">
            <a:avLst/>
          </a:prstGeom>
          <a:noFill/>
          <a:ln w="76200">
            <a:solidFill>
              <a:srgbClr val="2778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750" y="1298377"/>
            <a:ext cx="7746593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improve → things that failed before now work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12750" y="1593652"/>
            <a:ext cx="774659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agent self-review improved dramatically with Sonnet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7950" y="2149078"/>
            <a:ext cx="8128099" cy="8507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46050" y="2149078"/>
            <a:ext cx="0" cy="850702"/>
          </a:xfrm>
          <a:prstGeom prst="line">
            <a:avLst/>
          </a:prstGeom>
          <a:noFill/>
          <a:ln w="76200">
            <a:solidFill>
              <a:srgbClr val="2778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2750" y="2326779"/>
            <a:ext cx="7746593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learn → spot patterns, eliminate waste, encode knowledge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2750" y="2622054"/>
            <a:ext cx="774659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project makes the next one faster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406301"/>
            <a:ext cx="829066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200"/>
              </a:spcBef>
              <a:spcAft>
                <a:spcPts val="1600"/>
              </a:spcAft>
              <a:buNone/>
            </a:pPr>
            <a:r>
              <a:rPr lang="en-US" sz="26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7950" y="980926"/>
            <a:ext cx="8128099" cy="2364879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660"/>
              </a:lnSpc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4-10x productivity increase — not a typo</a:t>
            </a:r>
            <a:endParaRPr lang="en-US" sz="1400" dirty="0"/>
          </a:p>
          <a:p>
            <a:pPr algn="l" marL="152400" indent="-152400">
              <a:lnSpc>
                <a:spcPts val="2660"/>
              </a:lnSpc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goes UP — rigorous automated review &gt; manual coding</a:t>
            </a:r>
            <a:endParaRPr lang="en-US" sz="1400" dirty="0"/>
          </a:p>
          <a:p>
            <a:pPr algn="l" marL="152400" indent="-152400">
              <a:lnSpc>
                <a:spcPts val="2660"/>
              </a:lnSpc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= orchestrator, not code generator</a:t>
            </a:r>
            <a:endParaRPr lang="en-US" sz="1400" dirty="0"/>
          </a:p>
          <a:p>
            <a:pPr algn="l" marL="152400" indent="-152400">
              <a:lnSpc>
                <a:spcPts val="2660"/>
              </a:lnSpc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review loops save human time</a:t>
            </a:r>
            <a:endParaRPr lang="en-US" sz="1400" dirty="0"/>
          </a:p>
          <a:p>
            <a:pPr algn="l" marL="152400" indent="-152400">
              <a:lnSpc>
                <a:spcPts val="2660"/>
              </a:lnSpc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 in skills (domain knowledge), not more agents</a:t>
            </a:r>
            <a:endParaRPr lang="en-US" sz="1400" dirty="0"/>
          </a:p>
          <a:p>
            <a:pPr algn="l" marL="152400" indent="-152400">
              <a:lnSpc>
                <a:spcPts val="2660"/>
              </a:lnSpc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10% for tooling evolution</a:t>
            </a:r>
            <a:endParaRPr lang="en-US" sz="1400" dirty="0"/>
          </a:p>
          <a:p>
            <a:pPr algn="l" marL="152400" indent="-152400">
              <a:lnSpc>
                <a:spcPts val="2660"/>
              </a:lnSpc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constraints = more productivity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6218" y="2140000"/>
            <a:ext cx="797141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me show you what this looks like in practice...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2625258" y="2765375"/>
            <a:ext cx="3893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github.com/SalesforceRocks/python-demo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Code: From Tool to Software Factory</dc:title>
  <dc:subject>Brush AI Talk - March 2026</dc:subject>
  <dc:creator>Jaap Branderhorst</dc:creator>
  <cp:lastModifiedBy>Jaap Branderhorst</cp:lastModifiedBy>
  <cp:revision>1</cp:revision>
  <dcterms:created xsi:type="dcterms:W3CDTF">2026-03-10T09:08:38Z</dcterms:created>
  <dcterms:modified xsi:type="dcterms:W3CDTF">2026-03-10T09:08:38Z</dcterms:modified>
</cp:coreProperties>
</file>