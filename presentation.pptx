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1819275"/>
            <a:ext cx="8290661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Code: From Tool to Software Factory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2899871" y="2955875"/>
            <a:ext cx="33442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D5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Jaap Branderhorst, Appventures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95829" y="4610100"/>
            <a:ext cx="7521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Me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1171426"/>
            <a:ext cx="8128099" cy="134079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Salesforce managed package projects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 months with Claude Code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Appventures — Salesforce ISV consultancy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6050" y="1171426"/>
            <a:ext cx="0" cy="1523702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38051" y="1374577"/>
            <a:ext cx="76949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accounting system on Salesforce in 3 days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38051" y="1850827"/>
            <a:ext cx="769498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timeline: 6-12 months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051" y="2171402"/>
            <a:ext cx="769498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quality: higher than manual coding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7950" y="4483150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79"/>
              </a:spcBef>
              <a:spcAft>
                <a:spcPts val="4000"/>
              </a:spcAft>
              <a:buNone/>
            </a:pPr>
            <a:r>
              <a:rPr lang="en-US" sz="11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how.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Out of the Box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1171426"/>
            <a:ext cx="8128099" cy="17877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Chat, generate code, hope for the best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driven development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for small tasks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down on real projects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Scaling Wall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1171426"/>
            <a:ext cx="8128099" cy="19050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Inconsistency across files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loss between sessions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quality gates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mistakes repeated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'It works on my prompt' syndrome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18106" y="2103388"/>
            <a:ext cx="6307788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is not a code generator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396426" y="2716113"/>
            <a:ext cx="235099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an orchestrator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Agentic Software Factory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936653" y="2000399"/>
            <a:ext cx="1270546" cy="453926"/>
          </a:xfrm>
          <a:prstGeom prst="roundRect">
            <a:avLst>
              <a:gd name="adj" fmla="val 1678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286609" y="2127349"/>
            <a:ext cx="5706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14850" y="2505075"/>
            <a:ext cx="1165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549426" y="2822525"/>
            <a:ext cx="4045148" cy="453926"/>
          </a:xfrm>
          <a:prstGeom prst="roundRect">
            <a:avLst>
              <a:gd name="adj" fmla="val 16787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871636" y="2949476"/>
            <a:ext cx="34007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(Claude Code + CLAUDE.md)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14850" y="3327202"/>
            <a:ext cx="1165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554486" y="3644652"/>
            <a:ext cx="1270546" cy="453926"/>
          </a:xfrm>
          <a:prstGeom prst="roundRect">
            <a:avLst>
              <a:gd name="adj" fmla="val 16787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904442" y="3771602"/>
            <a:ext cx="5706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28182" y="3644652"/>
            <a:ext cx="1142405" cy="453926"/>
          </a:xfrm>
          <a:prstGeom prst="roundRect">
            <a:avLst>
              <a:gd name="adj" fmla="val 16787"/>
            </a:avLst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379419" y="3771602"/>
            <a:ext cx="4399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73737" y="3644652"/>
            <a:ext cx="1215628" cy="453926"/>
          </a:xfrm>
          <a:prstGeom prst="roundRect">
            <a:avLst>
              <a:gd name="adj" fmla="val 16787"/>
            </a:avLst>
          </a:prstGeom>
          <a:solidFill>
            <a:srgbClr val="3A9A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724242" y="3771602"/>
            <a:ext cx="51461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96827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specialists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1409551"/>
            <a:ext cx="8128099" cy="15240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developer: designs + implements + self-reviews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Fewer, more capable agents &gt; many narrow ones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responsibilities and boundaries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Model-aware: right model for the right task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96827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Injectable domain knowledge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1409551"/>
            <a:ext cx="8128099" cy="1778496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scaling mechanism</a:t>
            </a:r>
            <a:endParaRPr lang="en-US" sz="1400" dirty="0"/>
          </a:p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 across projects</a:t>
            </a:r>
            <a:endParaRPr lang="en-US" sz="1400" dirty="0"/>
          </a:p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fairness-metrics skill for ML domain knowledge</a:t>
            </a:r>
            <a:endParaRPr lang="en-US" sz="1400" dirty="0"/>
          </a:p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skills work across 3 different projects</a:t>
            </a:r>
            <a:endParaRPr lang="en-US" sz="1400" dirty="0"/>
          </a:p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project bootstraps in hours, not days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96827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guardrails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1409551"/>
            <a:ext cx="8128099" cy="17877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 mistakes before they happen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branch naming validation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cognitive load — just works</a:t>
            </a:r>
            <a:endParaRPr lang="en-US" sz="1600" dirty="0"/>
          </a:p>
          <a:p>
            <a:pPr algn="l" marL="152400" indent="-152400">
              <a:lnSpc>
                <a:spcPts val="3520"/>
              </a:lnSpc>
              <a:buSzPct val="100000"/>
              <a:buChar char="•"/>
            </a:pP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Shift-left quality control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96827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orchestrator's constitution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1409551"/>
            <a:ext cx="8128099" cy="16002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rules and quality gates</a:t>
            </a:r>
            <a:endParaRPr lang="en-US" sz="1500" dirty="0"/>
          </a:p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Non-negotiables list</a:t>
            </a:r>
            <a:endParaRPr lang="en-US" sz="1500" dirty="0"/>
          </a:p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Primacy clause — these rules always win</a:t>
            </a:r>
            <a:endParaRPr lang="en-US" sz="1500" dirty="0"/>
          </a:p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team's engineering handbook, machine-readable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200"/>
              </a:spcBef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Crafting Agents &amp; Skills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980926"/>
            <a:ext cx="3937099" cy="4162574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07950" y="1004739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1101" y="1206252"/>
            <a:ext cx="360141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1101" y="1571327"/>
            <a:ext cx="3530798" cy="2079427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agent definitions lightweight — role + rules, not domain knowledge</a:t>
            </a:r>
            <a:endParaRPr lang="en-US" sz="1300" dirty="0"/>
          </a:p>
          <a:p>
            <a:pPr algn="l" marL="127000" indent="-1270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Frontmatter matters: name, description, tools</a:t>
            </a:r>
            <a:endParaRPr lang="en-US" sz="1300" dirty="0"/>
          </a:p>
          <a:p>
            <a:pPr algn="l" marL="127000" indent="-1270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 drives auto-loading — make it specific</a:t>
            </a:r>
            <a:endParaRPr lang="en-US" sz="1300" dirty="0"/>
          </a:p>
          <a:p>
            <a:pPr algn="l" marL="127000" indent="-1270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capable agent &gt; three narrow ones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98950" y="980926"/>
            <a:ext cx="3937099" cy="4162574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98950" y="1004739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02101" y="1206252"/>
            <a:ext cx="360141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02101" y="1571327"/>
            <a:ext cx="3530798" cy="1782366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knowledge, not workflow instructions</a:t>
            </a:r>
            <a:endParaRPr lang="en-US" sz="1300" dirty="0"/>
          </a:p>
          <a:p>
            <a:pPr algn="l" marL="127000" indent="-1270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Frontmatter: name + description (drives auto-loading)</a:t>
            </a:r>
            <a:endParaRPr lang="en-US" sz="1300" dirty="0"/>
          </a:p>
          <a:p>
            <a:pPr algn="l" marL="127000" indent="-1270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concise — every line costs tokens</a:t>
            </a:r>
            <a:endParaRPr lang="en-US" sz="1300" dirty="0"/>
          </a:p>
          <a:p>
            <a:pPr algn="l" marL="127000" indent="-127000">
              <a:lnSpc>
                <a:spcPts val="234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across projects and agents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200"/>
              </a:spcBef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 Right Answer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980926"/>
            <a:ext cx="8128099" cy="2027039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5 options</a:t>
            </a:r>
            <a:pPr algn="l" indent="0" marL="0">
              <a:lnSpc>
                <a:spcPts val="266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most to least probable — then pick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specific:</a:t>
            </a:r>
            <a:pPr algn="l" indent="0" marL="0">
              <a:lnSpc>
                <a:spcPts val="266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‘fix the bug’ vs ‘the test fails because X, the root cause is likely Y’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 the output:</a:t>
            </a:r>
            <a:pPr algn="l" indent="0" marL="0">
              <a:lnSpc>
                <a:spcPts val="266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‘return only the changed function, not the whole file’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Ultracritical review prompts</a:t>
            </a:r>
            <a:pPr algn="l" indent="0" marL="0">
              <a:lnSpc>
                <a:spcPts val="266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‘NO STONE UNTURNED, try to BREAK this’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rules:</a:t>
            </a:r>
            <a:pPr algn="l" indent="0" marL="0">
              <a:lnSpc>
                <a:spcPts val="266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‘if unclear, ASK — never guess’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Primacy clause:</a:t>
            </a:r>
            <a:pPr algn="l" indent="0" marL="0">
              <a:lnSpc>
                <a:spcPts val="266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make your rules win over default behavior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800"/>
              </a:spcBef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Pipeline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7950" y="885676"/>
            <a:ext cx="822871" cy="269677"/>
          </a:xfrm>
          <a:prstGeom prst="roundRect">
            <a:avLst>
              <a:gd name="adj" fmla="val 1883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34901" y="949077"/>
            <a:ext cx="5803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Agent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07021" y="934789"/>
            <a:ext cx="155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635621" y="885676"/>
            <a:ext cx="959495" cy="269677"/>
          </a:xfrm>
          <a:prstGeom prst="roundRect">
            <a:avLst>
              <a:gd name="adj" fmla="val 1883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762571" y="949077"/>
            <a:ext cx="7197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(DoR)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71316" y="934789"/>
            <a:ext cx="155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99916" y="885676"/>
            <a:ext cx="1185416" cy="269677"/>
          </a:xfrm>
          <a:prstGeom prst="roundRect">
            <a:avLst>
              <a:gd name="adj" fmla="val 18837"/>
            </a:avLst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026866" y="949077"/>
            <a:ext cx="9501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3109" y="1206103"/>
            <a:ext cx="80316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7950" y="1428304"/>
            <a:ext cx="1468041" cy="269677"/>
          </a:xfrm>
          <a:prstGeom prst="roundRect">
            <a:avLst>
              <a:gd name="adj" fmla="val 1883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4901" y="1491704"/>
            <a:ext cx="12384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assesses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52191" y="1477417"/>
            <a:ext cx="155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0791" y="1428304"/>
            <a:ext cx="1495871" cy="269677"/>
          </a:xfrm>
          <a:prstGeom prst="roundRect">
            <a:avLst>
              <a:gd name="adj" fmla="val 18837"/>
            </a:avLst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407741" y="1491704"/>
            <a:ext cx="12668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answered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3109" y="1748730"/>
            <a:ext cx="80316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7950" y="1970931"/>
            <a:ext cx="1164282" cy="269677"/>
          </a:xfrm>
          <a:prstGeom prst="roundRect">
            <a:avLst>
              <a:gd name="adj" fmla="val 1883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4901" y="2034332"/>
            <a:ext cx="928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created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748433" y="2020044"/>
            <a:ext cx="155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977033" y="1970931"/>
            <a:ext cx="1679525" cy="269677"/>
          </a:xfrm>
          <a:prstGeom prst="roundRect">
            <a:avLst>
              <a:gd name="adj" fmla="val 18837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03983" y="2034332"/>
            <a:ext cx="14541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review loop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3109" y="2291358"/>
            <a:ext cx="80316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7950" y="2513558"/>
            <a:ext cx="1728490" cy="269677"/>
          </a:xfrm>
          <a:prstGeom prst="roundRect">
            <a:avLst>
              <a:gd name="adj" fmla="val 18837"/>
            </a:avLst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34901" y="2576959"/>
            <a:ext cx="1504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approves design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3109" y="2833985"/>
            <a:ext cx="80316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7950" y="3056186"/>
            <a:ext cx="1488430" cy="269677"/>
          </a:xfrm>
          <a:prstGeom prst="roundRect">
            <a:avLst>
              <a:gd name="adj" fmla="val 1883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34901" y="3119586"/>
            <a:ext cx="12592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TDD implementation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72580" y="3105299"/>
            <a:ext cx="155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01180" y="3056186"/>
            <a:ext cx="1679525" cy="269677"/>
          </a:xfrm>
          <a:prstGeom prst="roundRect">
            <a:avLst>
              <a:gd name="adj" fmla="val 18837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2428131" y="3119586"/>
            <a:ext cx="14541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review loop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3109" y="3376613"/>
            <a:ext cx="80316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7950" y="3598813"/>
            <a:ext cx="1615678" cy="269677"/>
          </a:xfrm>
          <a:prstGeom prst="roundRect">
            <a:avLst>
              <a:gd name="adj" fmla="val 18837"/>
            </a:avLst>
          </a:prstGeom>
          <a:solidFill>
            <a:srgbClr val="5EA8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34901" y="3662214"/>
            <a:ext cx="13890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approves code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199829" y="3647926"/>
            <a:ext cx="155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428429" y="3598813"/>
            <a:ext cx="430411" cy="269677"/>
          </a:xfrm>
          <a:prstGeom prst="roundRect">
            <a:avLst>
              <a:gd name="adj" fmla="val 18837"/>
            </a:avLst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55379" y="3662214"/>
            <a:ext cx="1800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600"/>
              </a:spcBef>
              <a:spcAft>
                <a:spcPts val="20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Automated Review Loops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7950" y="1063526"/>
            <a:ext cx="3911650" cy="2965698"/>
          </a:xfrm>
          <a:prstGeom prst="roundRect">
            <a:avLst>
              <a:gd name="adj" fmla="val 25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07950" y="1087338"/>
            <a:ext cx="3911650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1101" y="1314301"/>
            <a:ext cx="35754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Review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1101" y="1704826"/>
            <a:ext cx="3505349" cy="940743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47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agent ↔ Fresh opus instance</a:t>
            </a:r>
            <a:endParaRPr lang="en-US" sz="1300" dirty="0"/>
          </a:p>
          <a:p>
            <a:pPr algn="l" marL="114300" indent="-114300">
              <a:lnSpc>
                <a:spcPts val="247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prompt</a:t>
            </a:r>
            <a:endParaRPr lang="en-US" sz="1300" dirty="0"/>
          </a:p>
          <a:p>
            <a:pPr algn="l" marL="114300" indent="-114300">
              <a:lnSpc>
                <a:spcPts val="247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Cycles until convergence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24400" y="1063526"/>
            <a:ext cx="3911650" cy="2965698"/>
          </a:xfrm>
          <a:prstGeom prst="roundRect">
            <a:avLst>
              <a:gd name="adj" fmla="val 256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724400" y="1087338"/>
            <a:ext cx="3911650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7550" y="1314301"/>
            <a:ext cx="35754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27550" y="1704826"/>
            <a:ext cx="3505349" cy="940743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247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agent ↔ Fresh opus instance</a:t>
            </a:r>
            <a:endParaRPr lang="en-US" sz="1300" dirty="0"/>
          </a:p>
          <a:p>
            <a:pPr algn="l" marL="114300" indent="-114300">
              <a:lnSpc>
                <a:spcPts val="247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prompt</a:t>
            </a:r>
            <a:endParaRPr lang="en-US" sz="1300" dirty="0"/>
          </a:p>
          <a:p>
            <a:pPr algn="l" marL="114300" indent="-114300">
              <a:lnSpc>
                <a:spcPts val="2470"/>
              </a:lnSpc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Cycles until convergence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6050" y="4232374"/>
            <a:ext cx="0" cy="453926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7301" y="4359325"/>
            <a:ext cx="7798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only reviews AFTER automated convergence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TDD as a Forcing Function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1171426"/>
            <a:ext cx="8128099" cy="19050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acceptance criterion → a test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written FIRST, implementation second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coverage minimum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clarity of requirements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Catches regressions automatically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07950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0"/>
              </a:spcBef>
              <a:spcAft>
                <a:spcPts val="20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Discipline &amp; Escalation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1133326"/>
            <a:ext cx="8128099" cy="16002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know when to stop and ask</a:t>
            </a:r>
            <a:endParaRPr lang="en-US" sz="1500" dirty="0"/>
          </a:p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guess — use AskUserQuestion</a:t>
            </a:r>
            <a:endParaRPr lang="en-US" sz="1500" dirty="0"/>
          </a:p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Prevents the #1 time waster: agents going off-script</a:t>
            </a:r>
            <a:endParaRPr lang="en-US" sz="1500" dirty="0"/>
          </a:p>
          <a:p>
            <a:pPr algn="l" marL="152400" indent="-152400">
              <a:lnSpc>
                <a:spcPts val="315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Non-negotiables list as guardrails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200"/>
              </a:spcBef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Worktrees: Parallel 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82852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branches, simultaneously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1219051"/>
            <a:ext cx="8290661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worktrees let you work on multiple branches at the same time without stashing or switching. Each worktree is an independent checkout.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924794"/>
            <a:ext cx="8128099" cy="4030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36525" y="1924794"/>
            <a:ext cx="0" cy="403027"/>
          </a:xfrm>
          <a:prstGeom prst="line">
            <a:avLst/>
          </a:prstGeom>
          <a:noFill/>
          <a:ln w="57150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2801" y="2026295"/>
            <a:ext cx="786985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worktree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feature/1-metric-A (agent working)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7950" y="2429321"/>
            <a:ext cx="8128099" cy="4030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36525" y="2429321"/>
            <a:ext cx="0" cy="403027"/>
          </a:xfrm>
          <a:prstGeom prst="line">
            <a:avLst/>
          </a:prstGeom>
          <a:noFill/>
          <a:ln w="57150">
            <a:solidFill>
              <a:srgbClr val="2778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2801" y="2530822"/>
            <a:ext cx="786985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2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feature/2-metric-B (agent working)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7950" y="2933849"/>
            <a:ext cx="8128099" cy="403027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36525" y="2933849"/>
            <a:ext cx="0" cy="403027"/>
          </a:xfrm>
          <a:prstGeom prst="line">
            <a:avLst/>
          </a:prstGeom>
          <a:noFill/>
          <a:ln w="57150">
            <a:solidFill>
              <a:srgbClr val="2778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2801" y="3035350"/>
            <a:ext cx="786985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3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feature/3-cli-update (agent working)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6050" y="3514576"/>
            <a:ext cx="0" cy="463451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7301" y="3641527"/>
            <a:ext cx="77985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3x throughput — agents work in parallel on independent features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24582" y="1909911"/>
            <a:ext cx="269483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10% Rule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2155878" y="2554337"/>
            <a:ext cx="483209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D5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 ~10% of project time improving your AI tooling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94137" y="2893963"/>
            <a:ext cx="39557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D5D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develop tooling alongside your product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Deming Cycle for AI Tooling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336750" y="936575"/>
            <a:ext cx="2158901" cy="888950"/>
          </a:xfrm>
          <a:prstGeom prst="roundRect">
            <a:avLst>
              <a:gd name="adj" fmla="val 8572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174802" y="1247626"/>
            <a:ext cx="49245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648051" y="936575"/>
            <a:ext cx="2158901" cy="888950"/>
          </a:xfrm>
          <a:prstGeom prst="roundRect">
            <a:avLst>
              <a:gd name="adj" fmla="val 8572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75102" y="1247626"/>
            <a:ext cx="3108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336750" y="1977926"/>
            <a:ext cx="2158901" cy="888950"/>
          </a:xfrm>
          <a:prstGeom prst="roundRect">
            <a:avLst>
              <a:gd name="adj" fmla="val 8572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073003" y="2288977"/>
            <a:ext cx="6999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48051" y="1977926"/>
            <a:ext cx="2158901" cy="888950"/>
          </a:xfrm>
          <a:prstGeom prst="roundRect">
            <a:avLst>
              <a:gd name="adj" fmla="val 8572"/>
            </a:avLst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543252" y="2288977"/>
            <a:ext cx="375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6669" y="3120777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works today may not work next month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6669" y="3371552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failed before may work now (models improve!)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Evolution: Agent Consolidation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7950" y="936575"/>
            <a:ext cx="3937099" cy="1211163"/>
          </a:xfrm>
          <a:prstGeom prst="roundRect">
            <a:avLst>
              <a:gd name="adj" fmla="val 62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07950" y="960388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651" y="1161901"/>
            <a:ext cx="365333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651" y="1482477"/>
            <a:ext cx="3653332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agents per technology: Architect + Developer + Reviewer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98950" y="936575"/>
            <a:ext cx="3937099" cy="1211163"/>
          </a:xfrm>
          <a:prstGeom prst="roundRect">
            <a:avLst>
              <a:gd name="adj" fmla="val 62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98950" y="960388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76651" y="1161901"/>
            <a:ext cx="365333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76651" y="1482477"/>
            <a:ext cx="3653332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developer agent (designs + implements)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7950" y="2325439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Overlap, wasted tokens, context lost in handoffs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6050" y="2652415"/>
            <a:ext cx="0" cy="453926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7301" y="2779365"/>
            <a:ext cx="7798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Lesson: Fewer, more capable agents beat many narrow ones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Evolution: The Reviewer Problem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7950" y="936575"/>
            <a:ext cx="3937099" cy="1211163"/>
          </a:xfrm>
          <a:prstGeom prst="roundRect">
            <a:avLst>
              <a:gd name="adj" fmla="val 62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07950" y="960388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651" y="1161901"/>
            <a:ext cx="365333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651" y="1482477"/>
            <a:ext cx="3653332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haiku reviewer — cheap, fast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98950" y="936575"/>
            <a:ext cx="3937099" cy="1211163"/>
          </a:xfrm>
          <a:prstGeom prst="roundRect">
            <a:avLst>
              <a:gd name="adj" fmla="val 62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98950" y="960388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76651" y="1161901"/>
            <a:ext cx="365333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76651" y="1482477"/>
            <a:ext cx="3653332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opus instance, adversarial prompt, automated loop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7950" y="2325439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Only 'checkbox' reviews, no real quality insight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6050" y="2652415"/>
            <a:ext cx="0" cy="482501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7301" y="2779365"/>
            <a:ext cx="7798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need: (a) fresh eyes (b) cognitive depth (c) automated iteration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Evolution: Skills as the Scaling Lever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07950" y="908000"/>
            <a:ext cx="3937099" cy="1211163"/>
          </a:xfrm>
          <a:prstGeom prst="roundRect">
            <a:avLst>
              <a:gd name="adj" fmla="val 62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07950" y="931813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651" y="1133326"/>
            <a:ext cx="365333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651" y="1453902"/>
            <a:ext cx="3653332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in agent definitions (long, unwieldy prompts)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698950" y="908000"/>
            <a:ext cx="3937099" cy="1211163"/>
          </a:xfrm>
          <a:prstGeom prst="roundRect">
            <a:avLst>
              <a:gd name="adj" fmla="val 629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98950" y="931813"/>
            <a:ext cx="3937099" cy="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76651" y="1133326"/>
            <a:ext cx="365333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76651" y="1453902"/>
            <a:ext cx="3653332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agents + injectable domain expertise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7950" y="2296864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skills reused across 3 projects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6050" y="2623840"/>
            <a:ext cx="0" cy="453926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7301" y="2750790"/>
            <a:ext cx="7798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project bootstraps in hours, not days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600"/>
              </a:spcBef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Paradox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892076"/>
            <a:ext cx="82906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Constraints = More Productivity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7950" y="1387376"/>
            <a:ext cx="8128099" cy="1524000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Non-negotiables list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discipline rules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Escalation rules</a:t>
            </a:r>
            <a:endParaRPr lang="en-US" sz="1500" dirty="0"/>
          </a:p>
          <a:p>
            <a:pPr algn="l" marL="152400" indent="-152400">
              <a:lnSpc>
                <a:spcPts val="3000"/>
              </a:lnSpc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Primacy clause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6050" y="3165277"/>
            <a:ext cx="0" cy="463451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7301" y="3292227"/>
            <a:ext cx="77985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#1 time sink: fixing what the agent shouldn't have done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5720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600"/>
              </a:spcBef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Forces of Change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1120676"/>
            <a:ext cx="8128099" cy="8507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46050" y="1120676"/>
            <a:ext cx="0" cy="850702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750" y="1298377"/>
            <a:ext cx="774659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improve → things that failed before now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750" y="1593652"/>
            <a:ext cx="77465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agent self-review improved dramatically with Sonnet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950" y="2149078"/>
            <a:ext cx="8128099" cy="8507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46050" y="2149078"/>
            <a:ext cx="0" cy="850702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2750" y="2326779"/>
            <a:ext cx="774659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learn → spot patterns, eliminate waste, encode knowledge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2750" y="2622054"/>
            <a:ext cx="77465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project makes the next one faster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06301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200"/>
              </a:spcBef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Dark Side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86662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doesn’t reduce work — it intensifies it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7950" y="1180951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HBR, Feb 2026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7950" y="1511052"/>
            <a:ext cx="8128099" cy="1067098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expansion:</a:t>
            </a:r>
            <a:pPr algn="l" indent="0" marL="0">
              <a:lnSpc>
                <a:spcPts val="280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absorb work you used to delegate or skip</a:t>
            </a:r>
            <a:endParaRPr lang="en-US" sz="1400" dirty="0"/>
          </a:p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Blurred boundaries:</a:t>
            </a:r>
            <a:pPr algn="l" indent="0" marL="0">
              <a:lnSpc>
                <a:spcPts val="280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prompting feels like chatting, work bleeds into evenings</a:t>
            </a:r>
            <a:endParaRPr lang="en-US" sz="1400" dirty="0"/>
          </a:p>
          <a:p>
            <a:pPr algn="l" marL="152400" indent="-152400">
              <a:lnSpc>
                <a:spcPts val="2800"/>
              </a:lnSpc>
              <a:buSzPct val="100000"/>
              <a:buChar char="•"/>
            </a:pPr>
            <a:r>
              <a:rPr lang="en-US" sz="1400" b="1" dirty="0">
                <a:solidFill>
                  <a:srgbClr val="2778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overload:</a:t>
            </a:r>
            <a:pPr algn="l" indent="0" marL="0">
              <a:lnSpc>
                <a:spcPts val="2800"/>
              </a:lnSpc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more tasks in parallel, harder to stop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7950" y="2781300"/>
            <a:ext cx="8128099" cy="7810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46050" y="2781300"/>
            <a:ext cx="0" cy="781050"/>
          </a:xfrm>
          <a:prstGeom prst="line">
            <a:avLst/>
          </a:prstGeom>
          <a:noFill/>
          <a:ln w="76200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7301" y="2933700"/>
            <a:ext cx="7798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“Without intention, AI makes it easier to do more — but harder to stop”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7301" y="3209925"/>
            <a:ext cx="7798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intentional pauses. Protect focus time. Stay grounded.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200"/>
              </a:spcBef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7950" y="980926"/>
            <a:ext cx="8128099" cy="2364879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4-10x productivity increase — not a typo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goes UP — rigorous automated review &gt; manual coding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= orchestrator, not code generator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review loops save human time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 in skills (domain knowledge), not more agents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10% for tooling evolution</a:t>
            </a:r>
            <a:endParaRPr lang="en-US" sz="1400" dirty="0"/>
          </a:p>
          <a:p>
            <a:pPr algn="l" marL="152400" indent="-152400">
              <a:lnSpc>
                <a:spcPts val="2660"/>
              </a:lnSpc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constraints = more productivity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6218" y="2140000"/>
            <a:ext cx="797141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me show you what this looks like in practice...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2625258" y="2765375"/>
            <a:ext cx="389333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github.com/SalesforceRocks/python-demo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Code: From Tool to Software Factory</dc:title>
  <dc:subject>Brush AI Talk - March 2026</dc:subject>
  <dc:creator>Jaap Branderhorst</dc:creator>
  <cp:lastModifiedBy>Jaap Branderhorst</cp:lastModifiedBy>
  <cp:revision>1</cp:revision>
  <dcterms:created xsi:type="dcterms:W3CDTF">2026-03-10T10:56:30Z</dcterms:created>
  <dcterms:modified xsi:type="dcterms:W3CDTF">2026-03-10T10:56:30Z</dcterms:modified>
</cp:coreProperties>
</file>