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42" d="100"/>
          <a:sy n="242" d="100"/>
        </p:scale>
        <p:origin x="1240" y="17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59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intro. "I'm going to show you how I turned Claude Code from a chat tool into a software factory that delivers 10-20x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val="1024086991"/>
      </p:ext>
    </p:extLst>
  </p:cSld>
  <p:clrMapOvr>
    <a:masterClrMapping/>
  </p:clrMapOvr>
</p:notes>
</file>

<file path=ppt/notesSlides/notesSlide2.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 study: 16 experienced devs, their own repos, 19% slower. They BELIEVED they were 20% faster — 39-point perception gap. CodeRabbit: 1.7x more issues, 2.74x more security vulns. Google DORA: every 25% more AI adoption → 1.5% slower delivery. The common thread: no process, no quality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val="1024086991"/>
      </p:ext>
    </p:extLst>
  </p:cSld>
  <p:clrMapOvr>
    <a:masterClrMapping/>
  </p:clrMapOvr>
</p:notes>
</file>

<file path=ppt/notesSlides/notesSlide3.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stop using Claude Code like ChatGPT. You are the orchestrator. You define the process, Claude Code executes it. Left side = what most people do. Right side = what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val="1024086991"/>
      </p:ext>
    </p:extLst>
  </p:cSld>
  <p:clrMapOvr>
    <a:masterClrMapping/>
  </p:clrMapOvr>
</p:notes>
</file>

<file path=ppt/notesSlides/notesSlide4.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principles drive everything else. Precision in: the BA agent writes structured user stories that comply with Definition of Ready — that structured input is the foundation. Engineer it: TDD, static analysis, shift-left — catch issues in design, not production. AI reviews AI: fresh instance with adversarial prompt, no confirmation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val="1024086991"/>
      </p:ext>
    </p:extLst>
  </p:cSld>
  <p:clrMapOvr>
    <a:masterClrMapping/>
  </p:clrMapOvr>
</p:notes>
</file>

<file path=ppt/notesSlides/notesSlide5.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 is your process encoded. Agents play roles. Skills inject expertise. These three together ARE the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val="1024086991"/>
      </p:ext>
    </p:extLst>
  </p:cSld>
  <p:clrMapOvr>
    <a:masterClrMapping/>
  </p:clrMapOvr>
</p:notes>
</file>

<file path=ppt/notesSlides/notesSlide6.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thing — my production CLAUDE.md. Notice: phases with human gates, adversarial review loops, non-negotiables. The primacy clause means these rules always win, even if the AI tries to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val="1024086991"/>
      </p:ext>
    </p:extLst>
  </p:cSld>
  <p:clrMapOvr>
    <a:masterClrMapping/>
  </p:clrMapOvr>
</p:notes>
</file>

<file path=ppt/notesSlides/notesSlide7.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not headcount. For this demo just developer + BA, but in production I also use tech writer, QA, etc. YAGNI — add when the process demands it. The adversarial reviewer is a fresh instance because fresh eyes = no confirmation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val="1024086991"/>
      </p:ext>
    </p:extLst>
  </p:cSld>
  <p:clrMapOvr>
    <a:masterClrMapping/>
  </p:clrMapOvr>
</p:notes>
</file>

<file path=ppt/notesSlides/notesSlide8.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scaling mechanism. Domain knowledge (like your Responsible AI frameworks), framework knowledge, technical patterns. Same skills across projects. New project bootstraps in hours. Directly relevant to what Brush-AI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val="1024086991"/>
      </p:ext>
    </p:extLst>
  </p:cSld>
  <p:clrMapOvr>
    <a:masterClrMapping/>
  </p:clrMapOvr>
</p:notes>
</file>

<file path=ppt/notesSlides/notesSlide9.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Key: after design AND implementation, work goes to a PR so the human reviews in GitHub — you can comment on exact lines instead of giving generic feedback. For the demo I removed the review loops to save time — they add ~20 min but catch real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val="1024086991"/>
      </p:ext>
    </p:extLst>
  </p:cSld>
  <p:clrMapOvr>
    <a:masterClrMapping/>
  </p:clrMapOvr>
</p:notes>
</file>

<file path=ppt/notesSlides/notesSlide10.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10-20x in Salesforce context. Different domain but the principles transfer. Honest caveats: budget ~10% for tooling evolution, watch out for task expansion and cognitive overload. Build intentional pauses.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val="1024086991"/>
      </p:ext>
    </p:extLst>
  </p:cSld>
  <p:clrMapOvr>
    <a:masterClrMapping/>
  </p:clrMapOvr>
</p:notes>
</file>

<file path=ppt/notesSlides/notesSlide11.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already prepared the CLAUDE.md and agent definitions for you. You just need to extract your first skill from your domain expertise and run one feature through the pipeline. Ladder of adoption — start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val="1024086991"/>
      </p:ext>
    </p:extLst>
  </p:cSld>
  <p:clrMapOvr>
    <a:masterClrMapping/>
  </p:clrMapOvr>
</p:notes>
</file>

<file path=ppt/notesSlides/notesSlide12.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live demo: "Let me show you this running on a Responsible AI fairness checker — your domain."</a:t>
            </a:r>
            <a:endParaRPr lang="en-US" dirty="0"/>
          </a:p>
          <a:p>
            <a:endParaRPr lang="en-US" dirty="0"/>
          </a:p>
          <a:p>
            <a:r>
              <a:rPr lang="en-US" b="1" dirty="0"/>
              <a:t>DEMO FLOW:</a:t>
            </a:r>
            <a:endParaRPr lang="en-US" dirty="0"/>
          </a:p>
          <a:p>
            <a:endParaRPr lang="en-US" dirty="0"/>
          </a:p>
          <a:p>
            <a:r>
              <a:rPr lang="en-US" b="1" dirty="0"/>
              <a:t>Setup (1 min):</a:t>
            </a:r>
            <a:r>
              <a:rPr lang="en-US" dirty="0"/>
              <a:t> Show CLAUDE.md, python-developer.md, and the fairness-metrics skill on the projector.</a:t>
            </a:r>
            <a:endParaRPr lang="en-US" dirty="0"/>
          </a:p>
          <a:p>
            <a:endParaRPr lang="en-US" dirty="0"/>
          </a:p>
          <a:p>
            <a:r>
              <a:rPr lang="en-US" b="1" dirty="0"/>
              <a:t>Beat 1 — Issue Creation (~2 min):</a:t>
            </a:r>
            <a:endParaRPr lang="en-US" dirty="0"/>
          </a:p>
          <a:p>
            <a:r>
              <a:rPr lang="en-US" dirty="0"/>
              <a:t>@business-analyst Create a user story for adding an equal opportunity metric to the fairness checker. Equal opportunity measures whether true positive rates are equal across protected groups — it’s a relaxation of equalized odds. The metric should support multiple groups, custom thresholds, handle edge cases like groups with no positive actuals, and integrate with the CLI.</a:t>
            </a:r>
            <a:endParaRPr lang="en-US" dirty="0"/>
          </a:p>
          <a:p>
            <a:endParaRPr lang="en-US" dirty="0"/>
          </a:p>
          <a:p>
            <a:r>
              <a:rPr lang="en-US" b="1" dirty="0"/>
              <a:t>Beat 2 — Feasibility + Design (~4 min):</a:t>
            </a:r>
            <a:endParaRPr lang="en-US" dirty="0"/>
          </a:p>
          <a:p>
            <a:r>
              <a:rPr lang="en-US" dirty="0"/>
              <a:t>@python-developer Pick up issue #N. Follow the full workflow from CLAUDE.md.</a:t>
            </a:r>
            <a:endParaRPr lang="en-US" dirty="0"/>
          </a:p>
          <a:p>
            <a:endParaRPr lang="en-US" dirty="0"/>
          </a:p>
          <a:p>
            <a:r>
              <a:rPr lang="en-US" b="1" dirty="0"/>
              <a:t>Beat 3 — TDD Implementation (~4 min):</a:t>
            </a:r>
            <a:r>
              <a:rPr lang="en-US" dirty="0"/>
              <a:t> Continues automatically from Beat 2.</a:t>
            </a:r>
            <a:endParaRPr lang="en-US" dirty="0"/>
          </a:p>
          <a:p>
            <a:endParaRPr lang="en-US" dirty="0"/>
          </a:p>
          <a:p>
            <a:r>
              <a:rPr lang="en-US" b="1" dirty="0"/>
              <a:t>Beat 4 — PR (~30 sec):</a:t>
            </a:r>
            <a:r>
              <a:rPr lang="en-US" dirty="0"/>
              <a:t> Create the PR.</a:t>
            </a:r>
            <a:endParaRPr lang="en-US" dirty="0"/>
          </a:p>
          <a:p>
            <a:endParaRPr lang="en-US" dirty="0"/>
          </a:p>
          <a:p>
            <a:r>
              <a:rPr lang="en-US" b="1" dirty="0"/>
              <a:t>Fallback:</a:t>
            </a:r>
            <a:r>
              <a:rPr lang="en-US" dirty="0"/>
              <a:t> If it stalls, switch to the completed feature/3-add-demographic-parity branch and show git diff + pytest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92929"/>
        </a:solidFill>
        <a:effectLst/>
      </p:bgPr>
    </p:bg>
    <p:spTree>
      <p:nvGrpSpPr>
        <p:cNvPr id="1" name=""/>
        <p:cNvGrpSpPr/>
        <p:nvPr/>
      </p:nvGrpSpPr>
      <p:grpSpPr>
        <a:xfrm>
          <a:off x="0" y="0"/>
          <a:ext cx="0" cy="0"/>
          <a:chOff x="0" y="0"/>
          <a:chExt cx="0" cy="0"/>
        </a:xfrm>
      </p:grpSpPr>
      <p:sp>
        <p:nvSpPr>
          <p:cNvPr id="2" name="Text 0"/>
          <p:cNvSpPr/>
          <p:nvPr/>
        </p:nvSpPr>
        <p:spPr>
          <a:xfrm>
            <a:off x="762000" y="1777901"/>
            <a:ext cx="50750" cy="1143000"/>
          </a:xfrm>
          <a:prstGeom prst="rect">
            <a:avLst/>
          </a:prstGeom>
          <a:solidFill>
            <a:srgbClr val="E33737"/>
          </a:solidFill>
          <a:ln/>
        </p:spPr>
        <p:txBody>
          <a:bodyPr wrap="square" rtlCol="0" anchor="ctr"/>
          <a:lstStyle/>
          <a:p>
            <a:pPr marL="0" indent="0">
              <a:buNone/>
            </a:pPr>
            <a:endParaRPr lang="en-US" dirty="0"/>
          </a:p>
        </p:txBody>
      </p:sp>
      <p:sp>
        <p:nvSpPr>
          <p:cNvPr id="3" name="Text 1"/>
          <p:cNvSpPr/>
          <p:nvPr/>
        </p:nvSpPr>
        <p:spPr>
          <a:xfrm>
            <a:off x="1015901" y="1566863"/>
            <a:ext cx="7513421" cy="1162050"/>
          </a:xfrm>
          <a:prstGeom prst="rect">
            <a:avLst/>
          </a:prstGeom>
          <a:noFill/>
          <a:ln/>
        </p:spPr>
        <p:txBody>
          <a:bodyPr wrap="square" lIns="0" tIns="0" rIns="0" bIns="0" rtlCol="0" anchor="t"/>
          <a:lstStyle/>
          <a:p>
            <a:pPr marL="0" indent="0" algn="l">
              <a:spcAft>
                <a:spcPts val="2000"/>
              </a:spcAft>
              <a:buNone/>
            </a:pPr>
            <a:r>
              <a:rPr lang="en-US" sz="4000" b="1" dirty="0">
                <a:solidFill>
                  <a:srgbClr val="FFFFFF"/>
                </a:solidFill>
                <a:latin typeface="Arial" pitchFamily="34" charset="0"/>
                <a:ea typeface="Arial" pitchFamily="34" charset="-122"/>
                <a:cs typeface="Arial" pitchFamily="34" charset="-120"/>
              </a:rPr>
              <a:t>Turning Claude Code into a Software Factory</a:t>
            </a:r>
            <a:endParaRPr lang="en-US" sz="4000" dirty="0"/>
          </a:p>
        </p:txBody>
      </p:sp>
      <p:sp>
        <p:nvSpPr>
          <p:cNvPr id="4" name="Text 2"/>
          <p:cNvSpPr/>
          <p:nvPr/>
        </p:nvSpPr>
        <p:spPr>
          <a:xfrm>
            <a:off x="1015901" y="2982813"/>
            <a:ext cx="3404827" cy="266700"/>
          </a:xfrm>
          <a:prstGeom prst="rect">
            <a:avLst/>
          </a:prstGeom>
          <a:noFill/>
          <a:ln/>
        </p:spPr>
        <p:txBody>
          <a:bodyPr wrap="square" lIns="0" tIns="0" rIns="0" bIns="0" rtlCol="0" anchor="t"/>
          <a:lstStyle/>
          <a:p>
            <a:pPr marL="0" indent="0" algn="l">
              <a:spcAft>
                <a:spcPts val="1000"/>
              </a:spcAft>
              <a:buNone/>
            </a:pPr>
            <a:r>
              <a:rPr lang="en-US" sz="1800" dirty="0">
                <a:solidFill>
                  <a:srgbClr val="CCCBCB"/>
                </a:solidFill>
                <a:latin typeface="Arial" pitchFamily="34" charset="0"/>
                <a:ea typeface="Arial" pitchFamily="34" charset="-122"/>
                <a:cs typeface="Arial" pitchFamily="34" charset="-120"/>
              </a:rPr>
              <a:t>Jaap Branderhorst</a:t>
            </a:r>
            <a:endParaRPr lang="en-US" sz="1800" dirty="0"/>
          </a:p>
        </p:txBody>
      </p:sp>
      <p:sp>
        <p:nvSpPr>
          <p:cNvPr id="5" name="Text 3"/>
          <p:cNvSpPr/>
          <p:nvPr/>
        </p:nvSpPr>
        <p:spPr>
          <a:xfrm>
            <a:off x="1015901" y="3376464"/>
            <a:ext cx="889120" cy="200025"/>
          </a:xfrm>
          <a:prstGeom prst="rect">
            <a:avLst/>
          </a:prstGeom>
          <a:noFill/>
          <a:ln/>
        </p:spPr>
        <p:txBody>
          <a:bodyPr wrap="square" lIns="0" tIns="0" rIns="0" bIns="0" rtlCol="0" anchor="t"/>
          <a:lstStyle/>
          <a:p>
            <a:pPr marL="0" indent="0" algn="l">
              <a:buNone/>
            </a:pPr>
            <a:r>
              <a:rPr lang="en-US" sz="1300" dirty="0">
                <a:solidFill>
                  <a:srgbClr val="999999"/>
                </a:solidFill>
                <a:latin typeface="Arial" pitchFamily="34" charset="0"/>
                <a:ea typeface="Arial" pitchFamily="34" charset="-122"/>
                <a:cs typeface="Arial" pitchFamily="34" charset="-120"/>
              </a:rPr>
              <a:t>March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457200"/>
            <a:ext cx="8031682" cy="933450"/>
          </a:xfrm>
          <a:prstGeom prst="rect">
            <a:avLst/>
          </a:prstGeom>
          <a:noFill/>
          <a:ln/>
        </p:spPr>
        <p:txBody>
          <a:bodyPr wrap="square" lIns="0" tIns="0" rIns="0" bIns="0" rtlCol="0" anchor="t"/>
          <a:lstStyle/>
          <a:p>
            <a:pPr marL="0" indent="0" algn="l">
              <a:spcBef>
                <a:spcPts val="3600"/>
              </a:spcBef>
              <a:spcAft>
                <a:spcPts val="2000"/>
              </a:spcAft>
              <a:buNone/>
            </a:pPr>
            <a:r>
              <a:rPr lang="en-US" sz="3200" b="1" dirty="0">
                <a:solidFill>
                  <a:srgbClr val="292929"/>
                </a:solidFill>
                <a:latin typeface="Arial" pitchFamily="34" charset="0"/>
                <a:ea typeface="Arial" pitchFamily="34" charset="-122"/>
                <a:cs typeface="Arial" pitchFamily="34" charset="-120"/>
              </a:rPr>
              <a:t>THE AI CODING PRODUCTIVITY MYTH</a:t>
            </a:r>
            <a:endParaRPr lang="en-US" sz="3200" dirty="0"/>
          </a:p>
        </p:txBody>
      </p:sp>
      <p:sp>
        <p:nvSpPr>
          <p:cNvPr id="3" name="Shape 1"/>
          <p:cNvSpPr/>
          <p:nvPr/>
        </p:nvSpPr>
        <p:spPr>
          <a:xfrm>
            <a:off x="658713" y="1143000"/>
            <a:ext cx="0" cy="439489"/>
          </a:xfrm>
          <a:prstGeom prst="line">
            <a:avLst/>
          </a:prstGeom>
          <a:noFill/>
          <a:ln w="47625">
            <a:solidFill>
              <a:srgbClr val="E33737"/>
            </a:solidFill>
            <a:prstDash val="solid"/>
          </a:ln>
        </p:spPr>
        <p:txBody>
          <a:bodyPr/>
          <a:lstStyle/>
          <a:p>
            <a:endParaRPr lang="en-NL"/>
          </a:p>
        </p:txBody>
      </p:sp>
      <p:sp>
        <p:nvSpPr>
          <p:cNvPr id="4" name="Text 2"/>
          <p:cNvSpPr/>
          <p:nvPr/>
        </p:nvSpPr>
        <p:spPr>
          <a:xfrm>
            <a:off x="885676" y="1143000"/>
            <a:ext cx="7775892" cy="248989"/>
          </a:xfrm>
          <a:prstGeom prst="rect">
            <a:avLst/>
          </a:prstGeom>
          <a:noFill/>
          <a:ln/>
        </p:spPr>
        <p:txBody>
          <a:bodyPr wrap="square" lIns="0" tIns="0" rIns="0" bIns="0" rtlCol="0" anchor="t"/>
          <a:lstStyle/>
          <a:p>
            <a:pPr marL="0" indent="0" algn="l">
              <a:lnSpc>
                <a:spcPts val="1960"/>
              </a:lnSpc>
              <a:buNone/>
            </a:pPr>
            <a:r>
              <a:rPr lang="en-US" sz="1400" dirty="0">
                <a:solidFill>
                  <a:srgbClr val="292929"/>
                </a:solidFill>
                <a:latin typeface="Arial" pitchFamily="34" charset="0"/>
                <a:ea typeface="Arial" pitchFamily="34" charset="-122"/>
                <a:cs typeface="Arial" pitchFamily="34" charset="-120"/>
              </a:rPr>
              <a:t>Experienced developers are </a:t>
            </a:r>
            <a:r>
              <a:rPr lang="en-US" sz="1400" b="1" dirty="0">
                <a:solidFill>
                  <a:srgbClr val="E33737"/>
                </a:solidFill>
                <a:latin typeface="Arial" pitchFamily="34" charset="0"/>
                <a:ea typeface="Arial" pitchFamily="34" charset="-122"/>
                <a:cs typeface="Arial" pitchFamily="34" charset="-120"/>
              </a:rPr>
              <a:t>19% SLOWER</a:t>
            </a:r>
            <a:r>
              <a:rPr lang="en-US" sz="1400" dirty="0">
                <a:solidFill>
                  <a:srgbClr val="292929"/>
                </a:solidFill>
                <a:latin typeface="Arial" pitchFamily="34" charset="0"/>
                <a:ea typeface="Arial" pitchFamily="34" charset="-122"/>
                <a:cs typeface="Arial" pitchFamily="34" charset="-120"/>
              </a:rPr>
              <a:t> with AI tools</a:t>
            </a:r>
            <a:endParaRPr lang="en-US" sz="1400" dirty="0"/>
          </a:p>
        </p:txBody>
      </p:sp>
      <p:sp>
        <p:nvSpPr>
          <p:cNvPr id="5" name="Text 3"/>
          <p:cNvSpPr/>
          <p:nvPr/>
        </p:nvSpPr>
        <p:spPr>
          <a:xfrm>
            <a:off x="885676" y="1430089"/>
            <a:ext cx="7775892" cy="152400"/>
          </a:xfrm>
          <a:prstGeom prst="rect">
            <a:avLst/>
          </a:prstGeom>
          <a:noFill/>
          <a:ln/>
        </p:spPr>
        <p:txBody>
          <a:bodyPr wrap="square" lIns="0" tIns="0" rIns="0" bIns="0" rtlCol="0" anchor="t"/>
          <a:lstStyle/>
          <a:p>
            <a:pPr marL="0" indent="0" algn="l">
              <a:spcBef>
                <a:spcPts val="300"/>
              </a:spcBef>
              <a:buNone/>
            </a:pPr>
            <a:r>
              <a:rPr lang="en-US" sz="1100" dirty="0">
                <a:solidFill>
                  <a:srgbClr val="888888"/>
                </a:solidFill>
                <a:latin typeface="Arial" pitchFamily="34" charset="0"/>
                <a:ea typeface="Arial" pitchFamily="34" charset="-122"/>
                <a:cs typeface="Arial" pitchFamily="34" charset="-120"/>
              </a:rPr>
              <a:t>METR study, 2025</a:t>
            </a:r>
            <a:endParaRPr lang="en-US" sz="1100" dirty="0"/>
          </a:p>
        </p:txBody>
      </p:sp>
      <p:sp>
        <p:nvSpPr>
          <p:cNvPr id="6" name="Shape 4"/>
          <p:cNvSpPr/>
          <p:nvPr/>
        </p:nvSpPr>
        <p:spPr>
          <a:xfrm>
            <a:off x="658713" y="1760190"/>
            <a:ext cx="0" cy="439489"/>
          </a:xfrm>
          <a:prstGeom prst="line">
            <a:avLst/>
          </a:prstGeom>
          <a:noFill/>
          <a:ln w="47625">
            <a:solidFill>
              <a:srgbClr val="E33737"/>
            </a:solidFill>
            <a:prstDash val="solid"/>
          </a:ln>
        </p:spPr>
        <p:txBody>
          <a:bodyPr/>
          <a:lstStyle/>
          <a:p>
            <a:endParaRPr lang="en-NL"/>
          </a:p>
        </p:txBody>
      </p:sp>
      <p:sp>
        <p:nvSpPr>
          <p:cNvPr id="7" name="Text 5"/>
          <p:cNvSpPr/>
          <p:nvPr/>
        </p:nvSpPr>
        <p:spPr>
          <a:xfrm>
            <a:off x="885676" y="1760190"/>
            <a:ext cx="7775892" cy="248989"/>
          </a:xfrm>
          <a:prstGeom prst="rect">
            <a:avLst/>
          </a:prstGeom>
          <a:noFill/>
          <a:ln/>
        </p:spPr>
        <p:txBody>
          <a:bodyPr wrap="square" lIns="0" tIns="0" rIns="0" bIns="0" rtlCol="0" anchor="t"/>
          <a:lstStyle/>
          <a:p>
            <a:pPr marL="0" indent="0" algn="l">
              <a:lnSpc>
                <a:spcPts val="1960"/>
              </a:lnSpc>
              <a:buNone/>
            </a:pPr>
            <a:r>
              <a:rPr lang="en-US" sz="1400" dirty="0">
                <a:solidFill>
                  <a:srgbClr val="292929"/>
                </a:solidFill>
                <a:latin typeface="Arial" pitchFamily="34" charset="0"/>
                <a:ea typeface="Arial" pitchFamily="34" charset="-122"/>
                <a:cs typeface="Arial" pitchFamily="34" charset="-120"/>
              </a:rPr>
              <a:t>While believing they were </a:t>
            </a:r>
            <a:r>
              <a:rPr lang="en-US" sz="1400" b="1" dirty="0">
                <a:solidFill>
                  <a:srgbClr val="E33737"/>
                </a:solidFill>
                <a:latin typeface="Arial" pitchFamily="34" charset="0"/>
                <a:ea typeface="Arial" pitchFamily="34" charset="-122"/>
                <a:cs typeface="Arial" pitchFamily="34" charset="-120"/>
              </a:rPr>
              <a:t>20% faster</a:t>
            </a:r>
            <a:endParaRPr lang="en-US" sz="1400" dirty="0"/>
          </a:p>
        </p:txBody>
      </p:sp>
      <p:sp>
        <p:nvSpPr>
          <p:cNvPr id="8" name="Text 6"/>
          <p:cNvSpPr/>
          <p:nvPr/>
        </p:nvSpPr>
        <p:spPr>
          <a:xfrm>
            <a:off x="885676" y="2047280"/>
            <a:ext cx="7775892" cy="152400"/>
          </a:xfrm>
          <a:prstGeom prst="rect">
            <a:avLst/>
          </a:prstGeom>
          <a:noFill/>
          <a:ln/>
        </p:spPr>
        <p:txBody>
          <a:bodyPr wrap="square" lIns="0" tIns="0" rIns="0" bIns="0" rtlCol="0" anchor="t"/>
          <a:lstStyle/>
          <a:p>
            <a:pPr marL="0" indent="0" algn="l">
              <a:spcBef>
                <a:spcPts val="300"/>
              </a:spcBef>
              <a:buNone/>
            </a:pPr>
            <a:r>
              <a:rPr lang="en-US" sz="1100" dirty="0">
                <a:solidFill>
                  <a:srgbClr val="888888"/>
                </a:solidFill>
                <a:latin typeface="Arial" pitchFamily="34" charset="0"/>
                <a:ea typeface="Arial" pitchFamily="34" charset="-122"/>
                <a:cs typeface="Arial" pitchFamily="34" charset="-120"/>
              </a:rPr>
              <a:t>39-point perception gap</a:t>
            </a:r>
            <a:endParaRPr lang="en-US" sz="1100" dirty="0"/>
          </a:p>
        </p:txBody>
      </p:sp>
      <p:sp>
        <p:nvSpPr>
          <p:cNvPr id="9" name="Shape 7"/>
          <p:cNvSpPr/>
          <p:nvPr/>
        </p:nvSpPr>
        <p:spPr>
          <a:xfrm>
            <a:off x="658713" y="2377380"/>
            <a:ext cx="0" cy="439489"/>
          </a:xfrm>
          <a:prstGeom prst="line">
            <a:avLst/>
          </a:prstGeom>
          <a:noFill/>
          <a:ln w="47625">
            <a:solidFill>
              <a:srgbClr val="E33737"/>
            </a:solidFill>
            <a:prstDash val="solid"/>
          </a:ln>
        </p:spPr>
        <p:txBody>
          <a:bodyPr/>
          <a:lstStyle/>
          <a:p>
            <a:endParaRPr lang="en-NL"/>
          </a:p>
        </p:txBody>
      </p:sp>
      <p:sp>
        <p:nvSpPr>
          <p:cNvPr id="10" name="Text 8"/>
          <p:cNvSpPr/>
          <p:nvPr/>
        </p:nvSpPr>
        <p:spPr>
          <a:xfrm>
            <a:off x="885676" y="2377380"/>
            <a:ext cx="7775892" cy="248989"/>
          </a:xfrm>
          <a:prstGeom prst="rect">
            <a:avLst/>
          </a:prstGeom>
          <a:noFill/>
          <a:ln/>
        </p:spPr>
        <p:txBody>
          <a:bodyPr wrap="square" lIns="0" tIns="0" rIns="0" bIns="0" rtlCol="0" anchor="t"/>
          <a:lstStyle/>
          <a:p>
            <a:pPr marL="0" indent="0" algn="l">
              <a:lnSpc>
                <a:spcPts val="1960"/>
              </a:lnSpc>
              <a:buNone/>
            </a:pPr>
            <a:r>
              <a:rPr lang="en-US" sz="1400" dirty="0">
                <a:solidFill>
                  <a:srgbClr val="292929"/>
                </a:solidFill>
                <a:latin typeface="Arial" pitchFamily="34" charset="0"/>
                <a:ea typeface="Arial" pitchFamily="34" charset="-122"/>
                <a:cs typeface="Arial" pitchFamily="34" charset="-120"/>
              </a:rPr>
              <a:t>AI code has </a:t>
            </a:r>
            <a:r>
              <a:rPr lang="en-US" sz="1400" b="1" dirty="0">
                <a:solidFill>
                  <a:srgbClr val="E33737"/>
                </a:solidFill>
                <a:latin typeface="Arial" pitchFamily="34" charset="0"/>
                <a:ea typeface="Arial" pitchFamily="34" charset="-122"/>
                <a:cs typeface="Arial" pitchFamily="34" charset="-120"/>
              </a:rPr>
              <a:t>1.7x more issues</a:t>
            </a:r>
            <a:r>
              <a:rPr lang="en-US" sz="1400" dirty="0">
                <a:solidFill>
                  <a:srgbClr val="292929"/>
                </a:solidFill>
                <a:latin typeface="Arial" pitchFamily="34" charset="0"/>
                <a:ea typeface="Arial" pitchFamily="34" charset="-122"/>
                <a:cs typeface="Arial" pitchFamily="34" charset="-120"/>
              </a:rPr>
              <a:t>, </a:t>
            </a:r>
            <a:r>
              <a:rPr lang="en-US" sz="1400" b="1" dirty="0">
                <a:solidFill>
                  <a:srgbClr val="E33737"/>
                </a:solidFill>
                <a:latin typeface="Arial" pitchFamily="34" charset="0"/>
                <a:ea typeface="Arial" pitchFamily="34" charset="-122"/>
                <a:cs typeface="Arial" pitchFamily="34" charset="-120"/>
              </a:rPr>
              <a:t>2.74x more security vulnerabilities</a:t>
            </a:r>
            <a:endParaRPr lang="en-US" sz="1400" dirty="0"/>
          </a:p>
        </p:txBody>
      </p:sp>
      <p:sp>
        <p:nvSpPr>
          <p:cNvPr id="11" name="Text 9"/>
          <p:cNvSpPr/>
          <p:nvPr/>
        </p:nvSpPr>
        <p:spPr>
          <a:xfrm>
            <a:off x="885676" y="2664470"/>
            <a:ext cx="7775892" cy="152400"/>
          </a:xfrm>
          <a:prstGeom prst="rect">
            <a:avLst/>
          </a:prstGeom>
          <a:noFill/>
          <a:ln/>
        </p:spPr>
        <p:txBody>
          <a:bodyPr wrap="square" lIns="0" tIns="0" rIns="0" bIns="0" rtlCol="0" anchor="t"/>
          <a:lstStyle/>
          <a:p>
            <a:pPr marL="0" indent="0" algn="l">
              <a:spcBef>
                <a:spcPts val="300"/>
              </a:spcBef>
              <a:buNone/>
            </a:pPr>
            <a:r>
              <a:rPr lang="en-US" sz="1100" dirty="0">
                <a:solidFill>
                  <a:srgbClr val="888888"/>
                </a:solidFill>
                <a:latin typeface="Arial" pitchFamily="34" charset="0"/>
                <a:ea typeface="Arial" pitchFamily="34" charset="-122"/>
                <a:cs typeface="Arial" pitchFamily="34" charset="-120"/>
              </a:rPr>
              <a:t>CodeRabbit, 2025</a:t>
            </a:r>
            <a:endParaRPr lang="en-US" sz="1100" dirty="0"/>
          </a:p>
        </p:txBody>
      </p:sp>
      <p:sp>
        <p:nvSpPr>
          <p:cNvPr id="12" name="Shape 10"/>
          <p:cNvSpPr/>
          <p:nvPr/>
        </p:nvSpPr>
        <p:spPr>
          <a:xfrm>
            <a:off x="658713" y="2994571"/>
            <a:ext cx="0" cy="439489"/>
          </a:xfrm>
          <a:prstGeom prst="line">
            <a:avLst/>
          </a:prstGeom>
          <a:noFill/>
          <a:ln w="47625">
            <a:solidFill>
              <a:srgbClr val="E33737"/>
            </a:solidFill>
            <a:prstDash val="solid"/>
          </a:ln>
        </p:spPr>
        <p:txBody>
          <a:bodyPr/>
          <a:lstStyle/>
          <a:p>
            <a:endParaRPr lang="en-NL"/>
          </a:p>
        </p:txBody>
      </p:sp>
      <p:sp>
        <p:nvSpPr>
          <p:cNvPr id="13" name="Text 11"/>
          <p:cNvSpPr/>
          <p:nvPr/>
        </p:nvSpPr>
        <p:spPr>
          <a:xfrm>
            <a:off x="885676" y="2994571"/>
            <a:ext cx="7775892" cy="248989"/>
          </a:xfrm>
          <a:prstGeom prst="rect">
            <a:avLst/>
          </a:prstGeom>
          <a:noFill/>
          <a:ln/>
        </p:spPr>
        <p:txBody>
          <a:bodyPr wrap="square" lIns="0" tIns="0" rIns="0" bIns="0" rtlCol="0" anchor="t"/>
          <a:lstStyle/>
          <a:p>
            <a:pPr marL="0" indent="0" algn="l">
              <a:lnSpc>
                <a:spcPts val="1960"/>
              </a:lnSpc>
              <a:buNone/>
            </a:pPr>
            <a:r>
              <a:rPr lang="en-US" sz="1400" b="1" dirty="0">
                <a:solidFill>
                  <a:srgbClr val="E33737"/>
                </a:solidFill>
                <a:latin typeface="Arial" pitchFamily="34" charset="0"/>
                <a:ea typeface="Arial" pitchFamily="34" charset="-122"/>
                <a:cs typeface="Arial" pitchFamily="34" charset="-120"/>
              </a:rPr>
              <a:t>93%</a:t>
            </a:r>
            <a:r>
              <a:rPr lang="en-US" sz="1400" dirty="0">
                <a:solidFill>
                  <a:srgbClr val="292929"/>
                </a:solidFill>
                <a:latin typeface="Arial" pitchFamily="34" charset="0"/>
                <a:ea typeface="Arial" pitchFamily="34" charset="-122"/>
                <a:cs typeface="Arial" pitchFamily="34" charset="-120"/>
              </a:rPr>
              <a:t> adoption, only </a:t>
            </a:r>
            <a:r>
              <a:rPr lang="en-US" sz="1400" b="1" dirty="0">
                <a:solidFill>
                  <a:srgbClr val="E33737"/>
                </a:solidFill>
                <a:latin typeface="Arial" pitchFamily="34" charset="0"/>
                <a:ea typeface="Arial" pitchFamily="34" charset="-122"/>
                <a:cs typeface="Arial" pitchFamily="34" charset="-120"/>
              </a:rPr>
              <a:t>10%</a:t>
            </a:r>
            <a:r>
              <a:rPr lang="en-US" sz="1400" dirty="0">
                <a:solidFill>
                  <a:srgbClr val="292929"/>
                </a:solidFill>
                <a:latin typeface="Arial" pitchFamily="34" charset="0"/>
                <a:ea typeface="Arial" pitchFamily="34" charset="-122"/>
                <a:cs typeface="Arial" pitchFamily="34" charset="-120"/>
              </a:rPr>
              <a:t> productivity gain</a:t>
            </a:r>
            <a:endParaRPr lang="en-US" sz="1400" dirty="0"/>
          </a:p>
        </p:txBody>
      </p:sp>
      <p:sp>
        <p:nvSpPr>
          <p:cNvPr id="14" name="Text 12"/>
          <p:cNvSpPr/>
          <p:nvPr/>
        </p:nvSpPr>
        <p:spPr>
          <a:xfrm>
            <a:off x="885676" y="3281660"/>
            <a:ext cx="7775892" cy="152400"/>
          </a:xfrm>
          <a:prstGeom prst="rect">
            <a:avLst/>
          </a:prstGeom>
          <a:noFill/>
          <a:ln/>
        </p:spPr>
        <p:txBody>
          <a:bodyPr wrap="square" lIns="0" tIns="0" rIns="0" bIns="0" rtlCol="0" anchor="t"/>
          <a:lstStyle/>
          <a:p>
            <a:pPr marL="0" indent="0" algn="l">
              <a:spcBef>
                <a:spcPts val="300"/>
              </a:spcBef>
              <a:buNone/>
            </a:pPr>
            <a:r>
              <a:rPr lang="en-US" sz="1100" dirty="0">
                <a:solidFill>
                  <a:srgbClr val="888888"/>
                </a:solidFill>
                <a:latin typeface="Arial" pitchFamily="34" charset="0"/>
                <a:ea typeface="Arial" pitchFamily="34" charset="-122"/>
                <a:cs typeface="Arial" pitchFamily="34" charset="-120"/>
              </a:rPr>
              <a:t>Industry-wide</a:t>
            </a:r>
            <a:endParaRPr lang="en-US" sz="1100" dirty="0"/>
          </a:p>
        </p:txBody>
      </p:sp>
      <p:sp>
        <p:nvSpPr>
          <p:cNvPr id="15" name="Shape 13"/>
          <p:cNvSpPr/>
          <p:nvPr/>
        </p:nvSpPr>
        <p:spPr>
          <a:xfrm>
            <a:off x="634901" y="4289524"/>
            <a:ext cx="7874198" cy="0"/>
          </a:xfrm>
          <a:prstGeom prst="line">
            <a:avLst/>
          </a:prstGeom>
          <a:noFill/>
          <a:ln w="19050">
            <a:solidFill>
              <a:srgbClr val="E33737"/>
            </a:solidFill>
            <a:prstDash val="solid"/>
          </a:ln>
        </p:spPr>
        <p:txBody>
          <a:bodyPr/>
          <a:lstStyle/>
          <a:p>
            <a:endParaRPr lang="en-NL"/>
          </a:p>
        </p:txBody>
      </p:sp>
      <p:sp>
        <p:nvSpPr>
          <p:cNvPr id="16" name="Text 14"/>
          <p:cNvSpPr/>
          <p:nvPr/>
        </p:nvSpPr>
        <p:spPr>
          <a:xfrm>
            <a:off x="634901" y="4426000"/>
            <a:ext cx="8031682" cy="209550"/>
          </a:xfrm>
          <a:prstGeom prst="rect">
            <a:avLst/>
          </a:prstGeom>
          <a:noFill/>
          <a:ln/>
        </p:spPr>
        <p:txBody>
          <a:bodyPr wrap="square" lIns="0" tIns="0" rIns="0" bIns="0" rtlCol="0" anchor="t"/>
          <a:lstStyle/>
          <a:p>
            <a:pPr marL="0" indent="0" algn="l">
              <a:buNone/>
            </a:pPr>
            <a:r>
              <a:rPr lang="en-US" sz="1400" b="1" dirty="0">
                <a:solidFill>
                  <a:srgbClr val="292929"/>
                </a:solidFill>
                <a:latin typeface="Arial" pitchFamily="34" charset="0"/>
                <a:ea typeface="Arial" pitchFamily="34" charset="-122"/>
                <a:cs typeface="Arial" pitchFamily="34" charset="-120"/>
              </a:rPr>
              <a:t>The tool isn't the problem. The process is.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457200"/>
            <a:ext cx="8031682" cy="466725"/>
          </a:xfrm>
          <a:prstGeom prst="rect">
            <a:avLst/>
          </a:prstGeom>
          <a:noFill/>
          <a:ln/>
        </p:spPr>
        <p:txBody>
          <a:bodyPr wrap="square" lIns="0" tIns="0" rIns="0" bIns="0" rtlCol="0" anchor="t"/>
          <a:lstStyle/>
          <a:p>
            <a:pPr marL="0" indent="0" algn="l">
              <a:spcBef>
                <a:spcPts val="3600"/>
              </a:spcBef>
              <a:spcAft>
                <a:spcPts val="2400"/>
              </a:spcAft>
              <a:buNone/>
            </a:pPr>
            <a:r>
              <a:rPr lang="en-US" sz="3200" b="1" dirty="0">
                <a:solidFill>
                  <a:srgbClr val="292929"/>
                </a:solidFill>
                <a:latin typeface="Arial" pitchFamily="34" charset="0"/>
                <a:ea typeface="Arial" pitchFamily="34" charset="-122"/>
                <a:cs typeface="Arial" pitchFamily="34" charset="-120"/>
              </a:rPr>
              <a:t>ORCHESTRATOR, NOT GENERATOR</a:t>
            </a:r>
            <a:endParaRPr lang="en-US" sz="3200" dirty="0"/>
          </a:p>
        </p:txBody>
      </p:sp>
      <p:sp>
        <p:nvSpPr>
          <p:cNvPr id="3" name="Text 1"/>
          <p:cNvSpPr/>
          <p:nvPr/>
        </p:nvSpPr>
        <p:spPr>
          <a:xfrm>
            <a:off x="634901" y="1269950"/>
            <a:ext cx="3555950" cy="2841427"/>
          </a:xfrm>
          <a:prstGeom prst="rect">
            <a:avLst/>
          </a:prstGeom>
          <a:solidFill>
            <a:srgbClr val="F5F5F5"/>
          </a:solidFill>
          <a:ln/>
        </p:spPr>
        <p:txBody>
          <a:bodyPr wrap="square" rtlCol="0" anchor="ctr"/>
          <a:lstStyle/>
          <a:p>
            <a:pPr marL="0" indent="0">
              <a:buNone/>
            </a:pPr>
            <a:endParaRPr lang="en-US" dirty="0"/>
          </a:p>
        </p:txBody>
      </p:sp>
      <p:sp>
        <p:nvSpPr>
          <p:cNvPr id="4" name="Shape 2"/>
          <p:cNvSpPr/>
          <p:nvPr/>
        </p:nvSpPr>
        <p:spPr>
          <a:xfrm>
            <a:off x="634901" y="1293763"/>
            <a:ext cx="3555950" cy="0"/>
          </a:xfrm>
          <a:prstGeom prst="line">
            <a:avLst/>
          </a:prstGeom>
          <a:noFill/>
          <a:ln w="47625">
            <a:solidFill>
              <a:srgbClr val="CCCBCB"/>
            </a:solidFill>
            <a:prstDash val="solid"/>
          </a:ln>
        </p:spPr>
        <p:txBody>
          <a:bodyPr/>
          <a:lstStyle/>
          <a:p>
            <a:endParaRPr lang="en-NL"/>
          </a:p>
        </p:txBody>
      </p:sp>
      <p:sp>
        <p:nvSpPr>
          <p:cNvPr id="5" name="Text 3"/>
          <p:cNvSpPr/>
          <p:nvPr/>
        </p:nvSpPr>
        <p:spPr>
          <a:xfrm>
            <a:off x="888802" y="1571476"/>
            <a:ext cx="3109112" cy="171450"/>
          </a:xfrm>
          <a:prstGeom prst="rect">
            <a:avLst/>
          </a:prstGeom>
          <a:noFill/>
          <a:ln/>
        </p:spPr>
        <p:txBody>
          <a:bodyPr wrap="square" lIns="0" tIns="0" rIns="0" bIns="0" rtlCol="0" anchor="t"/>
          <a:lstStyle/>
          <a:p>
            <a:pPr marL="0" indent="0" algn="l">
              <a:spcAft>
                <a:spcPts val="1200"/>
              </a:spcAft>
              <a:buNone/>
            </a:pPr>
            <a:r>
              <a:rPr lang="en-US" sz="1200" b="1" dirty="0">
                <a:solidFill>
                  <a:srgbClr val="888888"/>
                </a:solidFill>
                <a:latin typeface="Arial" pitchFamily="34" charset="0"/>
                <a:ea typeface="Arial" pitchFamily="34" charset="-122"/>
                <a:cs typeface="Arial" pitchFamily="34" charset="-120"/>
              </a:rPr>
              <a:t>CHAT AND GENERATE</a:t>
            </a:r>
            <a:endParaRPr lang="en-US" sz="1200" dirty="0"/>
          </a:p>
        </p:txBody>
      </p:sp>
      <p:sp>
        <p:nvSpPr>
          <p:cNvPr id="6" name="Text 4"/>
          <p:cNvSpPr/>
          <p:nvPr/>
        </p:nvSpPr>
        <p:spPr>
          <a:xfrm>
            <a:off x="888801" y="1895326"/>
            <a:ext cx="3048149" cy="1056084"/>
          </a:xfrm>
          <a:prstGeom prst="rect">
            <a:avLst/>
          </a:prstGeom>
          <a:noFill/>
          <a:ln/>
        </p:spPr>
        <p:txBody>
          <a:bodyPr wrap="square" lIns="114300" tIns="0" rIns="0" bIns="0" rtlCol="0" anchor="t"/>
          <a:lstStyle/>
          <a:p>
            <a:pPr marL="114300" indent="-114300" algn="l">
              <a:lnSpc>
                <a:spcPts val="2080"/>
              </a:lnSpc>
              <a:buSzPct val="100000"/>
              <a:buChar char="•"/>
            </a:pPr>
            <a:r>
              <a:rPr lang="en-US" sz="1300" dirty="0">
                <a:solidFill>
                  <a:srgbClr val="292929"/>
                </a:solidFill>
                <a:latin typeface="Arial" pitchFamily="34" charset="0"/>
                <a:ea typeface="Arial" pitchFamily="34" charset="-122"/>
                <a:cs typeface="Arial" pitchFamily="34" charset="-120"/>
              </a:rPr>
              <a:t>Inconsistency</a:t>
            </a:r>
            <a:endParaRPr lang="en-US" sz="1300" dirty="0"/>
          </a:p>
          <a:p>
            <a:pPr marL="114300" indent="-114300" algn="l">
              <a:lnSpc>
                <a:spcPts val="2080"/>
              </a:lnSpc>
              <a:buSzPct val="100000"/>
              <a:buChar char="•"/>
            </a:pPr>
            <a:r>
              <a:rPr lang="en-US" sz="1300" dirty="0">
                <a:solidFill>
                  <a:srgbClr val="292929"/>
                </a:solidFill>
                <a:latin typeface="Arial" pitchFamily="34" charset="0"/>
                <a:ea typeface="Arial" pitchFamily="34" charset="-122"/>
                <a:cs typeface="Arial" pitchFamily="34" charset="-120"/>
              </a:rPr>
              <a:t>Context loss</a:t>
            </a:r>
            <a:endParaRPr lang="en-US" sz="1300" dirty="0"/>
          </a:p>
          <a:p>
            <a:pPr marL="114300" indent="-114300" algn="l">
              <a:lnSpc>
                <a:spcPts val="2080"/>
              </a:lnSpc>
              <a:buSzPct val="100000"/>
              <a:buChar char="•"/>
            </a:pPr>
            <a:r>
              <a:rPr lang="en-US" sz="1300" dirty="0">
                <a:solidFill>
                  <a:srgbClr val="292929"/>
                </a:solidFill>
                <a:latin typeface="Arial" pitchFamily="34" charset="0"/>
                <a:ea typeface="Arial" pitchFamily="34" charset="-122"/>
                <a:cs typeface="Arial" pitchFamily="34" charset="-120"/>
              </a:rPr>
              <a:t>No quality gates</a:t>
            </a:r>
            <a:endParaRPr lang="en-US" sz="1300" dirty="0"/>
          </a:p>
          <a:p>
            <a:pPr marL="114300" indent="-114300" algn="l">
              <a:lnSpc>
                <a:spcPts val="2080"/>
              </a:lnSpc>
              <a:buSzPct val="100000"/>
              <a:buChar char="•"/>
            </a:pPr>
            <a:r>
              <a:rPr lang="en-US" sz="1300" dirty="0">
                <a:solidFill>
                  <a:srgbClr val="292929"/>
                </a:solidFill>
                <a:latin typeface="Arial" pitchFamily="34" charset="0"/>
                <a:ea typeface="Arial" pitchFamily="34" charset="-122"/>
                <a:cs typeface="Arial" pitchFamily="34" charset="-120"/>
              </a:rPr>
              <a:t>Constant rework</a:t>
            </a:r>
            <a:endParaRPr lang="en-US" sz="1300" dirty="0"/>
          </a:p>
        </p:txBody>
      </p:sp>
      <p:sp>
        <p:nvSpPr>
          <p:cNvPr id="7" name="Text 5"/>
          <p:cNvSpPr/>
          <p:nvPr/>
        </p:nvSpPr>
        <p:spPr>
          <a:xfrm>
            <a:off x="4953149" y="1269950"/>
            <a:ext cx="3555950" cy="2841427"/>
          </a:xfrm>
          <a:prstGeom prst="rect">
            <a:avLst/>
          </a:prstGeom>
          <a:solidFill>
            <a:srgbClr val="292929"/>
          </a:solidFill>
          <a:ln/>
        </p:spPr>
        <p:txBody>
          <a:bodyPr wrap="square" rtlCol="0" anchor="ctr"/>
          <a:lstStyle/>
          <a:p>
            <a:pPr marL="0" indent="0">
              <a:buNone/>
            </a:pPr>
            <a:endParaRPr lang="en-US" dirty="0"/>
          </a:p>
        </p:txBody>
      </p:sp>
      <p:sp>
        <p:nvSpPr>
          <p:cNvPr id="8" name="Shape 6"/>
          <p:cNvSpPr/>
          <p:nvPr/>
        </p:nvSpPr>
        <p:spPr>
          <a:xfrm>
            <a:off x="4953149" y="1293763"/>
            <a:ext cx="3555950" cy="0"/>
          </a:xfrm>
          <a:prstGeom prst="line">
            <a:avLst/>
          </a:prstGeom>
          <a:noFill/>
          <a:ln w="47625">
            <a:solidFill>
              <a:srgbClr val="E33737"/>
            </a:solidFill>
            <a:prstDash val="solid"/>
          </a:ln>
        </p:spPr>
        <p:txBody>
          <a:bodyPr/>
          <a:lstStyle/>
          <a:p>
            <a:endParaRPr lang="en-NL"/>
          </a:p>
        </p:txBody>
      </p:sp>
      <p:sp>
        <p:nvSpPr>
          <p:cNvPr id="9" name="Text 7"/>
          <p:cNvSpPr/>
          <p:nvPr/>
        </p:nvSpPr>
        <p:spPr>
          <a:xfrm>
            <a:off x="5207050" y="1571476"/>
            <a:ext cx="3109112" cy="171450"/>
          </a:xfrm>
          <a:prstGeom prst="rect">
            <a:avLst/>
          </a:prstGeom>
          <a:noFill/>
          <a:ln/>
        </p:spPr>
        <p:txBody>
          <a:bodyPr wrap="square" lIns="0" tIns="0" rIns="0" bIns="0" rtlCol="0" anchor="t"/>
          <a:lstStyle/>
          <a:p>
            <a:pPr marL="0" indent="0" algn="l">
              <a:spcAft>
                <a:spcPts val="1200"/>
              </a:spcAft>
              <a:buNone/>
            </a:pPr>
            <a:r>
              <a:rPr lang="en-US" sz="1200" b="1" dirty="0">
                <a:solidFill>
                  <a:srgbClr val="E33737"/>
                </a:solidFill>
                <a:latin typeface="Arial" pitchFamily="34" charset="0"/>
                <a:ea typeface="Arial" pitchFamily="34" charset="-122"/>
                <a:cs typeface="Arial" pitchFamily="34" charset="-120"/>
              </a:rPr>
              <a:t>DIRECT A PROCESS</a:t>
            </a:r>
            <a:endParaRPr lang="en-US" sz="1200" dirty="0"/>
          </a:p>
        </p:txBody>
      </p:sp>
      <p:sp>
        <p:nvSpPr>
          <p:cNvPr id="10" name="Text 8"/>
          <p:cNvSpPr/>
          <p:nvPr/>
        </p:nvSpPr>
        <p:spPr>
          <a:xfrm>
            <a:off x="5207050" y="1895326"/>
            <a:ext cx="3048149" cy="1056084"/>
          </a:xfrm>
          <a:prstGeom prst="rect">
            <a:avLst/>
          </a:prstGeom>
          <a:noFill/>
          <a:ln/>
        </p:spPr>
        <p:txBody>
          <a:bodyPr wrap="square" lIns="114300" tIns="0" rIns="0" bIns="0" rtlCol="0" anchor="t"/>
          <a:lstStyle/>
          <a:p>
            <a:pPr marL="114300" indent="-114300" algn="l">
              <a:lnSpc>
                <a:spcPts val="2080"/>
              </a:lnSpc>
              <a:buSzPct val="100000"/>
              <a:buChar char="•"/>
            </a:pPr>
            <a:r>
              <a:rPr lang="en-US" sz="1300" dirty="0">
                <a:solidFill>
                  <a:srgbClr val="FFFFFF"/>
                </a:solidFill>
                <a:latin typeface="Arial" pitchFamily="34" charset="0"/>
                <a:ea typeface="Arial" pitchFamily="34" charset="-122"/>
                <a:cs typeface="Arial" pitchFamily="34" charset="-120"/>
              </a:rPr>
              <a:t>Consistent workflow</a:t>
            </a:r>
            <a:endParaRPr lang="en-US" sz="1300" dirty="0"/>
          </a:p>
          <a:p>
            <a:pPr marL="114300" indent="-114300" algn="l">
              <a:lnSpc>
                <a:spcPts val="2080"/>
              </a:lnSpc>
              <a:buSzPct val="100000"/>
              <a:buChar char="•"/>
            </a:pPr>
            <a:r>
              <a:rPr lang="en-US" sz="1300" dirty="0">
                <a:solidFill>
                  <a:srgbClr val="FFFFFF"/>
                </a:solidFill>
                <a:latin typeface="Arial" pitchFamily="34" charset="0"/>
                <a:ea typeface="Arial" pitchFamily="34" charset="-122"/>
                <a:cs typeface="Arial" pitchFamily="34" charset="-120"/>
              </a:rPr>
              <a:t>Quality built in</a:t>
            </a:r>
            <a:endParaRPr lang="en-US" sz="1300" dirty="0"/>
          </a:p>
          <a:p>
            <a:pPr marL="114300" indent="-114300" algn="l">
              <a:lnSpc>
                <a:spcPts val="2080"/>
              </a:lnSpc>
              <a:buSzPct val="100000"/>
              <a:buChar char="•"/>
            </a:pPr>
            <a:r>
              <a:rPr lang="en-US" sz="1300" dirty="0">
                <a:solidFill>
                  <a:srgbClr val="FFFFFF"/>
                </a:solidFill>
                <a:latin typeface="Arial" pitchFamily="34" charset="0"/>
                <a:ea typeface="Arial" pitchFamily="34" charset="-122"/>
                <a:cs typeface="Arial" pitchFamily="34" charset="-120"/>
              </a:rPr>
              <a:t>Human oversight</a:t>
            </a:r>
            <a:endParaRPr lang="en-US" sz="1300" dirty="0"/>
          </a:p>
          <a:p>
            <a:pPr marL="114300" indent="-114300" algn="l">
              <a:lnSpc>
                <a:spcPts val="2080"/>
              </a:lnSpc>
              <a:buSzPct val="100000"/>
              <a:buChar char="•"/>
            </a:pPr>
            <a:r>
              <a:rPr lang="en-US" sz="1300" dirty="0">
                <a:solidFill>
                  <a:srgbClr val="FFFFFF"/>
                </a:solidFill>
                <a:latin typeface="Arial" pitchFamily="34" charset="0"/>
                <a:ea typeface="Arial" pitchFamily="34" charset="-122"/>
                <a:cs typeface="Arial" pitchFamily="34" charset="-120"/>
              </a:rPr>
              <a:t>Predictable output</a:t>
            </a:r>
            <a:endParaRPr lang="en-US" sz="1300" dirty="0"/>
          </a:p>
        </p:txBody>
      </p:sp>
      <p:sp>
        <p:nvSpPr>
          <p:cNvPr id="11" name="Text 9"/>
          <p:cNvSpPr/>
          <p:nvPr/>
        </p:nvSpPr>
        <p:spPr>
          <a:xfrm>
            <a:off x="634901" y="4426000"/>
            <a:ext cx="8031682" cy="209550"/>
          </a:xfrm>
          <a:prstGeom prst="rect">
            <a:avLst/>
          </a:prstGeom>
          <a:noFill/>
          <a:ln/>
        </p:spPr>
        <p:txBody>
          <a:bodyPr wrap="square" lIns="0" tIns="0" rIns="0" bIns="0" rtlCol="0" anchor="t"/>
          <a:lstStyle/>
          <a:p>
            <a:pPr marL="0" indent="0" algn="l">
              <a:buNone/>
            </a:pPr>
            <a:r>
              <a:rPr lang="en-US" sz="1400" b="1" dirty="0">
                <a:solidFill>
                  <a:srgbClr val="292929"/>
                </a:solidFill>
                <a:latin typeface="Arial" pitchFamily="34" charset="0"/>
                <a:ea typeface="Arial" pitchFamily="34" charset="-122"/>
                <a:cs typeface="Arial" pitchFamily="34" charset="-120"/>
              </a:rPr>
              <a:t>You orchestrate the process. Claude Code executes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457200"/>
            <a:ext cx="8031682" cy="466725"/>
          </a:xfrm>
          <a:prstGeom prst="rect">
            <a:avLst/>
          </a:prstGeom>
          <a:noFill/>
          <a:ln/>
        </p:spPr>
        <p:txBody>
          <a:bodyPr wrap="square" lIns="0" tIns="0" rIns="0" bIns="0" rtlCol="0" anchor="t"/>
          <a:lstStyle/>
          <a:p>
            <a:pPr marL="0" indent="0" algn="l">
              <a:spcBef>
                <a:spcPts val="3600"/>
              </a:spcBef>
              <a:spcAft>
                <a:spcPts val="2000"/>
              </a:spcAft>
              <a:buNone/>
            </a:pPr>
            <a:r>
              <a:rPr lang="en-US" sz="3200" b="1" dirty="0">
                <a:solidFill>
                  <a:srgbClr val="292929"/>
                </a:solidFill>
                <a:latin typeface="Arial" pitchFamily="34" charset="0"/>
                <a:ea typeface="Arial" pitchFamily="34" charset="-122"/>
                <a:cs typeface="Arial" pitchFamily="34" charset="-120"/>
              </a:rPr>
              <a:t>THREE PRINCIPLES</a:t>
            </a:r>
            <a:endParaRPr lang="en-US" sz="3200" dirty="0"/>
          </a:p>
        </p:txBody>
      </p:sp>
      <p:sp>
        <p:nvSpPr>
          <p:cNvPr id="3" name="Shape 1"/>
          <p:cNvSpPr/>
          <p:nvPr/>
        </p:nvSpPr>
        <p:spPr>
          <a:xfrm>
            <a:off x="663476" y="1206401"/>
            <a:ext cx="0" cy="715417"/>
          </a:xfrm>
          <a:prstGeom prst="line">
            <a:avLst/>
          </a:prstGeom>
          <a:noFill/>
          <a:ln w="57150">
            <a:solidFill>
              <a:srgbClr val="E33737"/>
            </a:solidFill>
            <a:prstDash val="solid"/>
          </a:ln>
        </p:spPr>
        <p:txBody>
          <a:bodyPr/>
          <a:lstStyle/>
          <a:p>
            <a:endParaRPr lang="en-NL"/>
          </a:p>
        </p:txBody>
      </p:sp>
      <p:sp>
        <p:nvSpPr>
          <p:cNvPr id="4" name="Text 2"/>
          <p:cNvSpPr/>
          <p:nvPr/>
        </p:nvSpPr>
        <p:spPr>
          <a:xfrm>
            <a:off x="920651" y="1206401"/>
            <a:ext cx="7740217" cy="238125"/>
          </a:xfrm>
          <a:prstGeom prst="rect">
            <a:avLst/>
          </a:prstGeom>
          <a:noFill/>
          <a:ln/>
        </p:spPr>
        <p:txBody>
          <a:bodyPr wrap="square" lIns="0" tIns="0" rIns="0" bIns="0" rtlCol="0" anchor="t"/>
          <a:lstStyle/>
          <a:p>
            <a:pPr marL="0" indent="0" algn="l">
              <a:spcAft>
                <a:spcPts val="400"/>
              </a:spcAft>
              <a:buNone/>
            </a:pPr>
            <a:r>
              <a:rPr lang="en-US" sz="1600" b="1" dirty="0">
                <a:solidFill>
                  <a:srgbClr val="292929"/>
                </a:solidFill>
                <a:latin typeface="Arial" pitchFamily="34" charset="0"/>
                <a:ea typeface="Arial" pitchFamily="34" charset="-122"/>
                <a:cs typeface="Arial" pitchFamily="34" charset="-120"/>
              </a:rPr>
              <a:t>Precision in, precision out</a:t>
            </a:r>
            <a:endParaRPr lang="en-US" sz="1600" dirty="0"/>
          </a:p>
        </p:txBody>
      </p:sp>
      <p:sp>
        <p:nvSpPr>
          <p:cNvPr id="5" name="Text 3"/>
          <p:cNvSpPr/>
          <p:nvPr/>
        </p:nvSpPr>
        <p:spPr>
          <a:xfrm>
            <a:off x="920651" y="1495276"/>
            <a:ext cx="7740217" cy="42654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AI amplifies whatever you give it. Structured user stories (Definition of Ready), detailed design before code. Vague input = vague output. The first steps drive everything.</a:t>
            </a:r>
            <a:endParaRPr lang="en-US" sz="1200" dirty="0"/>
          </a:p>
        </p:txBody>
      </p:sp>
      <p:sp>
        <p:nvSpPr>
          <p:cNvPr id="6" name="Shape 4"/>
          <p:cNvSpPr/>
          <p:nvPr/>
        </p:nvSpPr>
        <p:spPr>
          <a:xfrm>
            <a:off x="663476" y="2124968"/>
            <a:ext cx="0" cy="715417"/>
          </a:xfrm>
          <a:prstGeom prst="line">
            <a:avLst/>
          </a:prstGeom>
          <a:noFill/>
          <a:ln w="57150">
            <a:solidFill>
              <a:srgbClr val="E33737"/>
            </a:solidFill>
            <a:prstDash val="solid"/>
          </a:ln>
        </p:spPr>
        <p:txBody>
          <a:bodyPr/>
          <a:lstStyle/>
          <a:p>
            <a:endParaRPr lang="en-NL"/>
          </a:p>
        </p:txBody>
      </p:sp>
      <p:sp>
        <p:nvSpPr>
          <p:cNvPr id="7" name="Text 5"/>
          <p:cNvSpPr/>
          <p:nvPr/>
        </p:nvSpPr>
        <p:spPr>
          <a:xfrm>
            <a:off x="920651" y="2124968"/>
            <a:ext cx="7740217" cy="238125"/>
          </a:xfrm>
          <a:prstGeom prst="rect">
            <a:avLst/>
          </a:prstGeom>
          <a:noFill/>
          <a:ln/>
        </p:spPr>
        <p:txBody>
          <a:bodyPr wrap="square" lIns="0" tIns="0" rIns="0" bIns="0" rtlCol="0" anchor="t"/>
          <a:lstStyle/>
          <a:p>
            <a:pPr marL="0" indent="0" algn="l">
              <a:spcAft>
                <a:spcPts val="400"/>
              </a:spcAft>
              <a:buNone/>
            </a:pPr>
            <a:r>
              <a:rPr lang="en-US" sz="1600" b="1" dirty="0">
                <a:solidFill>
                  <a:srgbClr val="292929"/>
                </a:solidFill>
                <a:latin typeface="Arial" pitchFamily="34" charset="0"/>
                <a:ea typeface="Arial" pitchFamily="34" charset="-122"/>
                <a:cs typeface="Arial" pitchFamily="34" charset="-120"/>
              </a:rPr>
              <a:t>Engineer it, don't prompt it</a:t>
            </a:r>
            <a:endParaRPr lang="en-US" sz="1600" dirty="0"/>
          </a:p>
        </p:txBody>
      </p:sp>
      <p:sp>
        <p:nvSpPr>
          <p:cNvPr id="8" name="Text 6"/>
          <p:cNvSpPr/>
          <p:nvPr/>
        </p:nvSpPr>
        <p:spPr>
          <a:xfrm>
            <a:off x="920651" y="2413843"/>
            <a:ext cx="7740217" cy="42654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Apply proven SE best practices: TDD, static analysis, shift-left. Catch issues in design, not in production. If it makes human teams reliable, it makes AI reliable.</a:t>
            </a:r>
            <a:endParaRPr lang="en-US" sz="1200" dirty="0"/>
          </a:p>
        </p:txBody>
      </p:sp>
      <p:sp>
        <p:nvSpPr>
          <p:cNvPr id="9" name="Shape 7"/>
          <p:cNvSpPr/>
          <p:nvPr/>
        </p:nvSpPr>
        <p:spPr>
          <a:xfrm>
            <a:off x="663476" y="3043535"/>
            <a:ext cx="0" cy="715417"/>
          </a:xfrm>
          <a:prstGeom prst="line">
            <a:avLst/>
          </a:prstGeom>
          <a:noFill/>
          <a:ln w="57150">
            <a:solidFill>
              <a:srgbClr val="E33737"/>
            </a:solidFill>
            <a:prstDash val="solid"/>
          </a:ln>
        </p:spPr>
        <p:txBody>
          <a:bodyPr/>
          <a:lstStyle/>
          <a:p>
            <a:endParaRPr lang="en-NL"/>
          </a:p>
        </p:txBody>
      </p:sp>
      <p:sp>
        <p:nvSpPr>
          <p:cNvPr id="10" name="Text 8"/>
          <p:cNvSpPr/>
          <p:nvPr/>
        </p:nvSpPr>
        <p:spPr>
          <a:xfrm>
            <a:off x="920651" y="3043535"/>
            <a:ext cx="7740217" cy="238125"/>
          </a:xfrm>
          <a:prstGeom prst="rect">
            <a:avLst/>
          </a:prstGeom>
          <a:noFill/>
          <a:ln/>
        </p:spPr>
        <p:txBody>
          <a:bodyPr wrap="square" lIns="0" tIns="0" rIns="0" bIns="0" rtlCol="0" anchor="t"/>
          <a:lstStyle/>
          <a:p>
            <a:pPr marL="0" indent="0" algn="l">
              <a:spcAft>
                <a:spcPts val="400"/>
              </a:spcAft>
              <a:buNone/>
            </a:pPr>
            <a:r>
              <a:rPr lang="en-US" sz="1600" b="1" dirty="0">
                <a:solidFill>
                  <a:srgbClr val="292929"/>
                </a:solidFill>
                <a:latin typeface="Arial" pitchFamily="34" charset="0"/>
                <a:ea typeface="Arial" pitchFamily="34" charset="-122"/>
                <a:cs typeface="Arial" pitchFamily="34" charset="-120"/>
              </a:rPr>
              <a:t>AI reviews AI, human decides</a:t>
            </a:r>
            <a:endParaRPr lang="en-US" sz="1600" dirty="0"/>
          </a:p>
        </p:txBody>
      </p:sp>
      <p:sp>
        <p:nvSpPr>
          <p:cNvPr id="11" name="Text 9"/>
          <p:cNvSpPr/>
          <p:nvPr/>
        </p:nvSpPr>
        <p:spPr>
          <a:xfrm>
            <a:off x="920651" y="3332411"/>
            <a:ext cx="7740217" cy="42654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Fresh adversarial instance reviews until convergence. Human approves at phase gates — in GitHub, on the actual lines — not in the weeds.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457200"/>
            <a:ext cx="8031682" cy="466725"/>
          </a:xfrm>
          <a:prstGeom prst="rect">
            <a:avLst/>
          </a:prstGeom>
          <a:noFill/>
          <a:ln/>
        </p:spPr>
        <p:txBody>
          <a:bodyPr wrap="square" lIns="0" tIns="0" rIns="0" bIns="0" rtlCol="0" anchor="t"/>
          <a:lstStyle/>
          <a:p>
            <a:pPr marL="0" indent="0" algn="l">
              <a:spcBef>
                <a:spcPts val="3600"/>
              </a:spcBef>
              <a:spcAft>
                <a:spcPts val="2000"/>
              </a:spcAft>
              <a:buNone/>
            </a:pPr>
            <a:r>
              <a:rPr lang="en-US" sz="3200" b="1" dirty="0">
                <a:solidFill>
                  <a:srgbClr val="292929"/>
                </a:solidFill>
                <a:latin typeface="Arial" pitchFamily="34" charset="0"/>
                <a:ea typeface="Arial" pitchFamily="34" charset="-122"/>
                <a:cs typeface="Arial" pitchFamily="34" charset="-120"/>
              </a:rPr>
              <a:t>THREE BUILDING BLOCKS</a:t>
            </a:r>
            <a:endParaRPr lang="en-US" sz="3200" dirty="0"/>
          </a:p>
        </p:txBody>
      </p:sp>
      <p:sp>
        <p:nvSpPr>
          <p:cNvPr id="3" name="Shape 1"/>
          <p:cNvSpPr/>
          <p:nvPr/>
        </p:nvSpPr>
        <p:spPr>
          <a:xfrm>
            <a:off x="663476" y="1206401"/>
            <a:ext cx="0" cy="519857"/>
          </a:xfrm>
          <a:prstGeom prst="line">
            <a:avLst/>
          </a:prstGeom>
          <a:noFill/>
          <a:ln w="57150">
            <a:solidFill>
              <a:srgbClr val="E33737"/>
            </a:solidFill>
            <a:prstDash val="solid"/>
          </a:ln>
        </p:spPr>
        <p:txBody>
          <a:bodyPr/>
          <a:lstStyle/>
          <a:p>
            <a:endParaRPr lang="en-NL"/>
          </a:p>
        </p:txBody>
      </p:sp>
      <p:sp>
        <p:nvSpPr>
          <p:cNvPr id="4" name="Text 2"/>
          <p:cNvSpPr/>
          <p:nvPr/>
        </p:nvSpPr>
        <p:spPr>
          <a:xfrm>
            <a:off x="920651" y="1206401"/>
            <a:ext cx="7740217" cy="238125"/>
          </a:xfrm>
          <a:prstGeom prst="rect">
            <a:avLst/>
          </a:prstGeom>
          <a:noFill/>
          <a:ln/>
        </p:spPr>
        <p:txBody>
          <a:bodyPr wrap="square" lIns="0" tIns="0" rIns="0" bIns="0" rtlCol="0" anchor="t"/>
          <a:lstStyle/>
          <a:p>
            <a:pPr marL="0" indent="0" algn="l">
              <a:spcAft>
                <a:spcPts val="400"/>
              </a:spcAft>
              <a:buNone/>
            </a:pPr>
            <a:r>
              <a:rPr lang="en-US" sz="1600" b="1" dirty="0">
                <a:solidFill>
                  <a:srgbClr val="292929"/>
                </a:solidFill>
                <a:latin typeface="Arial" pitchFamily="34" charset="0"/>
                <a:ea typeface="Arial" pitchFamily="34" charset="-122"/>
                <a:cs typeface="Arial" pitchFamily="34" charset="-120"/>
              </a:rPr>
              <a:t>CLAUDE.md</a:t>
            </a:r>
            <a:endParaRPr lang="en-US" sz="1600" dirty="0"/>
          </a:p>
        </p:txBody>
      </p:sp>
      <p:sp>
        <p:nvSpPr>
          <p:cNvPr id="5" name="Text 3"/>
          <p:cNvSpPr/>
          <p:nvPr/>
        </p:nvSpPr>
        <p:spPr>
          <a:xfrm>
            <a:off x="920651" y="1495276"/>
            <a:ext cx="7740217" cy="230981"/>
          </a:xfrm>
          <a:prstGeom prst="rect">
            <a:avLst/>
          </a:prstGeom>
          <a:noFill/>
          <a:ln/>
        </p:spPr>
        <p:txBody>
          <a:bodyPr wrap="square" lIns="0" tIns="0" rIns="0" bIns="0" rtlCol="0" anchor="t"/>
          <a:lstStyle/>
          <a:p>
            <a:pPr marL="0" indent="0" algn="l">
              <a:lnSpc>
                <a:spcPts val="1820"/>
              </a:lnSpc>
              <a:buNone/>
            </a:pPr>
            <a:r>
              <a:rPr lang="en-US" sz="1300" dirty="0">
                <a:solidFill>
                  <a:srgbClr val="666666"/>
                </a:solidFill>
                <a:latin typeface="Arial" pitchFamily="34" charset="0"/>
                <a:ea typeface="Arial" pitchFamily="34" charset="-122"/>
                <a:cs typeface="Arial" pitchFamily="34" charset="-120"/>
              </a:rPr>
              <a:t>Your engineering process, machine-readable. Workflow rules, quality gates, non-negotiables.</a:t>
            </a:r>
            <a:endParaRPr lang="en-US" sz="1300" dirty="0"/>
          </a:p>
        </p:txBody>
      </p:sp>
      <p:sp>
        <p:nvSpPr>
          <p:cNvPr id="6" name="Shape 4"/>
          <p:cNvSpPr/>
          <p:nvPr/>
        </p:nvSpPr>
        <p:spPr>
          <a:xfrm>
            <a:off x="663476" y="1929408"/>
            <a:ext cx="0" cy="519857"/>
          </a:xfrm>
          <a:prstGeom prst="line">
            <a:avLst/>
          </a:prstGeom>
          <a:noFill/>
          <a:ln w="57150">
            <a:solidFill>
              <a:srgbClr val="E33737"/>
            </a:solidFill>
            <a:prstDash val="solid"/>
          </a:ln>
        </p:spPr>
        <p:txBody>
          <a:bodyPr/>
          <a:lstStyle/>
          <a:p>
            <a:endParaRPr lang="en-NL"/>
          </a:p>
        </p:txBody>
      </p:sp>
      <p:sp>
        <p:nvSpPr>
          <p:cNvPr id="7" name="Text 5"/>
          <p:cNvSpPr/>
          <p:nvPr/>
        </p:nvSpPr>
        <p:spPr>
          <a:xfrm>
            <a:off x="920651" y="1929408"/>
            <a:ext cx="7740217" cy="238125"/>
          </a:xfrm>
          <a:prstGeom prst="rect">
            <a:avLst/>
          </a:prstGeom>
          <a:noFill/>
          <a:ln/>
        </p:spPr>
        <p:txBody>
          <a:bodyPr wrap="square" lIns="0" tIns="0" rIns="0" bIns="0" rtlCol="0" anchor="t"/>
          <a:lstStyle/>
          <a:p>
            <a:pPr marL="0" indent="0" algn="l">
              <a:spcAft>
                <a:spcPts val="400"/>
              </a:spcAft>
              <a:buNone/>
            </a:pPr>
            <a:r>
              <a:rPr lang="en-US" sz="1600" b="1" dirty="0">
                <a:solidFill>
                  <a:srgbClr val="292929"/>
                </a:solidFill>
                <a:latin typeface="Arial" pitchFamily="34" charset="0"/>
                <a:ea typeface="Arial" pitchFamily="34" charset="-122"/>
                <a:cs typeface="Arial" pitchFamily="34" charset="-120"/>
              </a:rPr>
              <a:t>Agents</a:t>
            </a:r>
            <a:endParaRPr lang="en-US" sz="1600" dirty="0"/>
          </a:p>
        </p:txBody>
      </p:sp>
      <p:sp>
        <p:nvSpPr>
          <p:cNvPr id="8" name="Text 6"/>
          <p:cNvSpPr/>
          <p:nvPr/>
        </p:nvSpPr>
        <p:spPr>
          <a:xfrm>
            <a:off x="920651" y="2218283"/>
            <a:ext cx="7740217" cy="230981"/>
          </a:xfrm>
          <a:prstGeom prst="rect">
            <a:avLst/>
          </a:prstGeom>
          <a:noFill/>
          <a:ln/>
        </p:spPr>
        <p:txBody>
          <a:bodyPr wrap="square" lIns="0" tIns="0" rIns="0" bIns="0" rtlCol="0" anchor="t"/>
          <a:lstStyle/>
          <a:p>
            <a:pPr marL="0" indent="0" algn="l">
              <a:lnSpc>
                <a:spcPts val="1820"/>
              </a:lnSpc>
              <a:buNone/>
            </a:pPr>
            <a:r>
              <a:rPr lang="en-US" sz="1300" dirty="0">
                <a:solidFill>
                  <a:srgbClr val="666666"/>
                </a:solidFill>
                <a:latin typeface="Arial" pitchFamily="34" charset="0"/>
                <a:ea typeface="Arial" pitchFamily="34" charset="-122"/>
                <a:cs typeface="Arial" pitchFamily="34" charset="-120"/>
              </a:rPr>
              <a:t>Role-based specialists. A developer agent that designs, implements, and self-reviews.</a:t>
            </a:r>
            <a:endParaRPr lang="en-US" sz="1300" dirty="0"/>
          </a:p>
        </p:txBody>
      </p:sp>
      <p:sp>
        <p:nvSpPr>
          <p:cNvPr id="9" name="Shape 7"/>
          <p:cNvSpPr/>
          <p:nvPr/>
        </p:nvSpPr>
        <p:spPr>
          <a:xfrm>
            <a:off x="663476" y="2652415"/>
            <a:ext cx="0" cy="519857"/>
          </a:xfrm>
          <a:prstGeom prst="line">
            <a:avLst/>
          </a:prstGeom>
          <a:noFill/>
          <a:ln w="57150">
            <a:solidFill>
              <a:srgbClr val="E33737"/>
            </a:solidFill>
            <a:prstDash val="solid"/>
          </a:ln>
        </p:spPr>
        <p:txBody>
          <a:bodyPr/>
          <a:lstStyle/>
          <a:p>
            <a:endParaRPr lang="en-NL"/>
          </a:p>
        </p:txBody>
      </p:sp>
      <p:sp>
        <p:nvSpPr>
          <p:cNvPr id="10" name="Text 8"/>
          <p:cNvSpPr/>
          <p:nvPr/>
        </p:nvSpPr>
        <p:spPr>
          <a:xfrm>
            <a:off x="920651" y="2652415"/>
            <a:ext cx="7740217" cy="238125"/>
          </a:xfrm>
          <a:prstGeom prst="rect">
            <a:avLst/>
          </a:prstGeom>
          <a:noFill/>
          <a:ln/>
        </p:spPr>
        <p:txBody>
          <a:bodyPr wrap="square" lIns="0" tIns="0" rIns="0" bIns="0" rtlCol="0" anchor="t"/>
          <a:lstStyle/>
          <a:p>
            <a:pPr marL="0" indent="0" algn="l">
              <a:spcAft>
                <a:spcPts val="400"/>
              </a:spcAft>
              <a:buNone/>
            </a:pPr>
            <a:r>
              <a:rPr lang="en-US" sz="1600" b="1" dirty="0">
                <a:solidFill>
                  <a:srgbClr val="292929"/>
                </a:solidFill>
                <a:latin typeface="Arial" pitchFamily="34" charset="0"/>
                <a:ea typeface="Arial" pitchFamily="34" charset="-122"/>
                <a:cs typeface="Arial" pitchFamily="34" charset="-120"/>
              </a:rPr>
              <a:t>Skills</a:t>
            </a:r>
            <a:endParaRPr lang="en-US" sz="1600" dirty="0"/>
          </a:p>
        </p:txBody>
      </p:sp>
      <p:sp>
        <p:nvSpPr>
          <p:cNvPr id="11" name="Text 9"/>
          <p:cNvSpPr/>
          <p:nvPr/>
        </p:nvSpPr>
        <p:spPr>
          <a:xfrm>
            <a:off x="920651" y="2941290"/>
            <a:ext cx="7740217" cy="230981"/>
          </a:xfrm>
          <a:prstGeom prst="rect">
            <a:avLst/>
          </a:prstGeom>
          <a:noFill/>
          <a:ln/>
        </p:spPr>
        <p:txBody>
          <a:bodyPr wrap="square" lIns="0" tIns="0" rIns="0" bIns="0" rtlCol="0" anchor="t"/>
          <a:lstStyle/>
          <a:p>
            <a:pPr marL="0" indent="0" algn="l">
              <a:lnSpc>
                <a:spcPts val="1820"/>
              </a:lnSpc>
              <a:buNone/>
            </a:pPr>
            <a:r>
              <a:rPr lang="en-US" sz="1300" dirty="0">
                <a:solidFill>
                  <a:srgbClr val="666666"/>
                </a:solidFill>
                <a:latin typeface="Arial" pitchFamily="34" charset="0"/>
                <a:ea typeface="Arial" pitchFamily="34" charset="-122"/>
                <a:cs typeface="Arial" pitchFamily="34" charset="-120"/>
              </a:rPr>
              <a:t>Injectable domain knowledge. Reusable across projects. New project bootstraps in hours.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381000"/>
            <a:ext cx="8031682" cy="409575"/>
          </a:xfrm>
          <a:prstGeom prst="rect">
            <a:avLst/>
          </a:prstGeom>
          <a:noFill/>
          <a:ln/>
        </p:spPr>
        <p:txBody>
          <a:bodyPr wrap="square" lIns="0" tIns="0" rIns="0" bIns="0" rtlCol="0" anchor="t"/>
          <a:lstStyle/>
          <a:p>
            <a:pPr marL="0" indent="0" algn="l">
              <a:spcBef>
                <a:spcPts val="3000"/>
              </a:spcBef>
              <a:spcAft>
                <a:spcPts val="1400"/>
              </a:spcAft>
              <a:buNone/>
            </a:pPr>
            <a:r>
              <a:rPr lang="en-US" sz="2800" b="1" dirty="0">
                <a:solidFill>
                  <a:srgbClr val="292929"/>
                </a:solidFill>
                <a:latin typeface="Arial" pitchFamily="34" charset="0"/>
                <a:ea typeface="Arial" pitchFamily="34" charset="-122"/>
                <a:cs typeface="Arial" pitchFamily="34" charset="-120"/>
              </a:rPr>
              <a:t>CLAUDE.MD — THE CONSTITUTION</a:t>
            </a:r>
            <a:endParaRPr lang="en-US" sz="2800" dirty="0"/>
          </a:p>
        </p:txBody>
      </p:sp>
      <p:sp>
        <p:nvSpPr>
          <p:cNvPr id="3" name="Text 1"/>
          <p:cNvSpPr/>
          <p:nvPr/>
        </p:nvSpPr>
        <p:spPr>
          <a:xfrm>
            <a:off x="634901" y="990600"/>
            <a:ext cx="7874198" cy="3619500"/>
          </a:xfrm>
          <a:prstGeom prst="rect">
            <a:avLst/>
          </a:prstGeom>
          <a:solidFill>
            <a:srgbClr val="292929"/>
          </a:solidFill>
          <a:ln/>
        </p:spPr>
        <p:txBody>
          <a:bodyPr wrap="square" rtlCol="0" anchor="ctr"/>
          <a:lstStyle/>
          <a:p>
            <a:pPr marL="0" indent="0">
              <a:buNone/>
            </a:pPr>
            <a:endParaRPr lang="en-US" dirty="0"/>
          </a:p>
        </p:txBody>
      </p:sp>
      <p:sp>
        <p:nvSpPr>
          <p:cNvPr id="4" name="Shape 2"/>
          <p:cNvSpPr/>
          <p:nvPr/>
        </p:nvSpPr>
        <p:spPr>
          <a:xfrm>
            <a:off x="663476" y="990600"/>
            <a:ext cx="0" cy="3619500"/>
          </a:xfrm>
          <a:prstGeom prst="line">
            <a:avLst/>
          </a:prstGeom>
          <a:noFill/>
          <a:ln w="57150">
            <a:solidFill>
              <a:srgbClr val="E33737"/>
            </a:solidFill>
            <a:prstDash val="solid"/>
          </a:ln>
        </p:spPr>
        <p:txBody>
          <a:bodyPr/>
          <a:lstStyle/>
          <a:p>
            <a:endParaRPr lang="en-NL"/>
          </a:p>
        </p:txBody>
      </p:sp>
      <p:sp>
        <p:nvSpPr>
          <p:cNvPr id="5" name="Text 3"/>
          <p:cNvSpPr/>
          <p:nvPr/>
        </p:nvSpPr>
        <p:spPr>
          <a:xfrm>
            <a:off x="971401" y="1168301"/>
            <a:ext cx="7403515" cy="171450"/>
          </a:xfrm>
          <a:prstGeom prst="rect">
            <a:avLst/>
          </a:prstGeom>
          <a:noFill/>
          <a:ln/>
        </p:spPr>
        <p:txBody>
          <a:bodyPr wrap="square" lIns="0" tIns="0" rIns="0" bIns="0" rtlCol="0" anchor="t"/>
          <a:lstStyle/>
          <a:p>
            <a:pPr marL="0" indent="0" algn="l">
              <a:spcAft>
                <a:spcPts val="1000"/>
              </a:spcAft>
              <a:buNone/>
            </a:pPr>
            <a:r>
              <a:rPr lang="en-US" sz="1200" b="1" dirty="0">
                <a:solidFill>
                  <a:srgbClr val="E33737"/>
                </a:solidFill>
                <a:latin typeface="Arial" pitchFamily="34" charset="0"/>
                <a:ea typeface="Arial" pitchFamily="34" charset="-122"/>
                <a:cs typeface="Arial" pitchFamily="34" charset="-120"/>
              </a:rPr>
              <a:t>CLAUDE.MD (SIMPLIFIED)</a:t>
            </a:r>
            <a:endParaRPr lang="en-US" sz="1200" dirty="0"/>
          </a:p>
        </p:txBody>
      </p:sp>
      <p:sp>
        <p:nvSpPr>
          <p:cNvPr id="6" name="Text 4"/>
          <p:cNvSpPr/>
          <p:nvPr/>
        </p:nvSpPr>
        <p:spPr>
          <a:xfrm>
            <a:off x="971401" y="1466701"/>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CCCBCB"/>
                </a:solidFill>
                <a:latin typeface="Courier New" pitchFamily="34" charset="0"/>
                <a:ea typeface="Courier New" pitchFamily="34" charset="-122"/>
                <a:cs typeface="Courier New" pitchFamily="34" charset="-120"/>
              </a:rPr>
              <a:t>## Orchestrator Workflow</a:t>
            </a:r>
            <a:endParaRPr lang="en-US" sz="1300" dirty="0"/>
          </a:p>
        </p:txBody>
      </p:sp>
      <p:sp>
        <p:nvSpPr>
          <p:cNvPr id="7" name="Text 5"/>
          <p:cNvSpPr/>
          <p:nvPr/>
        </p:nvSpPr>
        <p:spPr>
          <a:xfrm>
            <a:off x="971401" y="1693813"/>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CCCBCB"/>
                </a:solidFill>
                <a:latin typeface="Courier New" pitchFamily="34" charset="0"/>
                <a:ea typeface="Courier New" pitchFamily="34" charset="-122"/>
                <a:cs typeface="Courier New" pitchFamily="34" charset="-120"/>
              </a:rPr>
              <a:t>Phase 0: BA Agent creates issue (Definition of Ready)</a:t>
            </a:r>
            <a:endParaRPr lang="en-US" sz="1300" dirty="0"/>
          </a:p>
        </p:txBody>
      </p:sp>
      <p:sp>
        <p:nvSpPr>
          <p:cNvPr id="8" name="Text 6"/>
          <p:cNvSpPr/>
          <p:nvPr/>
        </p:nvSpPr>
        <p:spPr>
          <a:xfrm>
            <a:off x="971401" y="1920925"/>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FFFFFF"/>
                </a:solidFill>
                <a:latin typeface="Courier New" pitchFamily="34" charset="0"/>
                <a:ea typeface="Courier New" pitchFamily="34" charset="-122"/>
                <a:cs typeface="Courier New" pitchFamily="34" charset="-120"/>
              </a:rPr>
              <a:t>&gt;&gt; STOP. Human approves issue.</a:t>
            </a:r>
            <a:endParaRPr lang="en-US" sz="1300" dirty="0"/>
          </a:p>
        </p:txBody>
      </p:sp>
      <p:sp>
        <p:nvSpPr>
          <p:cNvPr id="9" name="Text 7"/>
          <p:cNvSpPr/>
          <p:nvPr/>
        </p:nvSpPr>
        <p:spPr>
          <a:xfrm>
            <a:off x="971401" y="2148036"/>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CCCBCB"/>
                </a:solidFill>
                <a:latin typeface="Courier New" pitchFamily="34" charset="0"/>
                <a:ea typeface="Courier New" pitchFamily="34" charset="-122"/>
                <a:cs typeface="Courier New" pitchFamily="34" charset="-120"/>
              </a:rPr>
              <a:t>Phase 1: Dev Agent assesses feasibility</a:t>
            </a:r>
            <a:endParaRPr lang="en-US" sz="1300" dirty="0"/>
          </a:p>
        </p:txBody>
      </p:sp>
      <p:sp>
        <p:nvSpPr>
          <p:cNvPr id="10" name="Text 8"/>
          <p:cNvSpPr/>
          <p:nvPr/>
        </p:nvSpPr>
        <p:spPr>
          <a:xfrm>
            <a:off x="971401" y="2375148"/>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CCCBCB"/>
                </a:solidFill>
                <a:latin typeface="Courier New" pitchFamily="34" charset="0"/>
                <a:ea typeface="Courier New" pitchFamily="34" charset="-122"/>
                <a:cs typeface="Courier New" pitchFamily="34" charset="-120"/>
              </a:rPr>
              <a:t>Phase 2: Dev Agent creates design</a:t>
            </a:r>
            <a:endParaRPr lang="en-US" sz="1300" dirty="0"/>
          </a:p>
        </p:txBody>
      </p:sp>
      <p:sp>
        <p:nvSpPr>
          <p:cNvPr id="11" name="Text 9"/>
          <p:cNvSpPr/>
          <p:nvPr/>
        </p:nvSpPr>
        <p:spPr>
          <a:xfrm>
            <a:off x="971401" y="2602260"/>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E33737"/>
                </a:solidFill>
                <a:latin typeface="Courier New" pitchFamily="34" charset="0"/>
                <a:ea typeface="Courier New" pitchFamily="34" charset="-122"/>
                <a:cs typeface="Courier New" pitchFamily="34" charset="-120"/>
              </a:rPr>
              <a:t>&gt;&gt; Adversarial review loop (fresh instance)</a:t>
            </a:r>
            <a:endParaRPr lang="en-US" sz="1300" dirty="0"/>
          </a:p>
        </p:txBody>
      </p:sp>
      <p:sp>
        <p:nvSpPr>
          <p:cNvPr id="12" name="Text 10"/>
          <p:cNvSpPr/>
          <p:nvPr/>
        </p:nvSpPr>
        <p:spPr>
          <a:xfrm>
            <a:off x="971401" y="2829371"/>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FFFFFF"/>
                </a:solidFill>
                <a:latin typeface="Courier New" pitchFamily="34" charset="0"/>
                <a:ea typeface="Courier New" pitchFamily="34" charset="-122"/>
                <a:cs typeface="Courier New" pitchFamily="34" charset="-120"/>
              </a:rPr>
              <a:t>&gt;&gt; STOP. Human approves design.</a:t>
            </a:r>
            <a:endParaRPr lang="en-US" sz="1300" dirty="0"/>
          </a:p>
        </p:txBody>
      </p:sp>
      <p:sp>
        <p:nvSpPr>
          <p:cNvPr id="13" name="Text 11"/>
          <p:cNvSpPr/>
          <p:nvPr/>
        </p:nvSpPr>
        <p:spPr>
          <a:xfrm>
            <a:off x="971401" y="3056483"/>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CCCBCB"/>
                </a:solidFill>
                <a:latin typeface="Courier New" pitchFamily="34" charset="0"/>
                <a:ea typeface="Courier New" pitchFamily="34" charset="-122"/>
                <a:cs typeface="Courier New" pitchFamily="34" charset="-120"/>
              </a:rPr>
              <a:t>Phase 3: Dev Agent implements (TDD)</a:t>
            </a:r>
            <a:endParaRPr lang="en-US" sz="1300" dirty="0"/>
          </a:p>
        </p:txBody>
      </p:sp>
      <p:sp>
        <p:nvSpPr>
          <p:cNvPr id="14" name="Text 12"/>
          <p:cNvSpPr/>
          <p:nvPr/>
        </p:nvSpPr>
        <p:spPr>
          <a:xfrm>
            <a:off x="971401" y="3283595"/>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E33737"/>
                </a:solidFill>
                <a:latin typeface="Courier New" pitchFamily="34" charset="0"/>
                <a:ea typeface="Courier New" pitchFamily="34" charset="-122"/>
                <a:cs typeface="Courier New" pitchFamily="34" charset="-120"/>
              </a:rPr>
              <a:t>&gt;&gt; Adversarial review loop (fresh instance)</a:t>
            </a:r>
            <a:endParaRPr lang="en-US" sz="1300" dirty="0"/>
          </a:p>
        </p:txBody>
      </p:sp>
      <p:sp>
        <p:nvSpPr>
          <p:cNvPr id="15" name="Text 13"/>
          <p:cNvSpPr/>
          <p:nvPr/>
        </p:nvSpPr>
        <p:spPr>
          <a:xfrm>
            <a:off x="971401" y="3510707"/>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FFFFFF"/>
                </a:solidFill>
                <a:latin typeface="Courier New" pitchFamily="34" charset="0"/>
                <a:ea typeface="Courier New" pitchFamily="34" charset="-122"/>
                <a:cs typeface="Courier New" pitchFamily="34" charset="-120"/>
              </a:rPr>
              <a:t>&gt;&gt; STOP. Human approves code.</a:t>
            </a:r>
            <a:endParaRPr lang="en-US" sz="1300" dirty="0"/>
          </a:p>
        </p:txBody>
      </p:sp>
      <p:sp>
        <p:nvSpPr>
          <p:cNvPr id="16" name="Text 14"/>
          <p:cNvSpPr/>
          <p:nvPr/>
        </p:nvSpPr>
        <p:spPr>
          <a:xfrm>
            <a:off x="971401" y="3737818"/>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CCCBCB"/>
                </a:solidFill>
                <a:latin typeface="Courier New" pitchFamily="34" charset="0"/>
                <a:ea typeface="Courier New" pitchFamily="34" charset="-122"/>
                <a:cs typeface="Courier New" pitchFamily="34" charset="-120"/>
              </a:rPr>
              <a:t>Phase 4: Create PR</a:t>
            </a:r>
            <a:endParaRPr lang="en-US" sz="1300" dirty="0"/>
          </a:p>
        </p:txBody>
      </p:sp>
      <p:sp>
        <p:nvSpPr>
          <p:cNvPr id="17" name="Text 15"/>
          <p:cNvSpPr/>
          <p:nvPr/>
        </p:nvSpPr>
        <p:spPr>
          <a:xfrm>
            <a:off x="971401" y="4028480"/>
            <a:ext cx="7403515" cy="214461"/>
          </a:xfrm>
          <a:prstGeom prst="rect">
            <a:avLst/>
          </a:prstGeom>
          <a:noFill/>
          <a:ln/>
        </p:spPr>
        <p:txBody>
          <a:bodyPr wrap="square" lIns="0" tIns="0" rIns="0" bIns="0" rtlCol="0" anchor="t"/>
          <a:lstStyle/>
          <a:p>
            <a:pPr marL="0" indent="0" algn="l">
              <a:lnSpc>
                <a:spcPts val="1690"/>
              </a:lnSpc>
              <a:spcBef>
                <a:spcPts val="600"/>
              </a:spcBef>
              <a:spcAft>
                <a:spcPts val="100"/>
              </a:spcAft>
              <a:buNone/>
            </a:pPr>
            <a:r>
              <a:rPr lang="en-US" sz="1300" dirty="0">
                <a:solidFill>
                  <a:srgbClr val="E33737"/>
                </a:solidFill>
                <a:latin typeface="Courier New" pitchFamily="34" charset="0"/>
                <a:ea typeface="Courier New" pitchFamily="34" charset="-122"/>
                <a:cs typeface="Courier New" pitchFamily="34" charset="-120"/>
              </a:rPr>
              <a:t>## Non-Negotiables</a:t>
            </a:r>
            <a:endParaRPr lang="en-US" sz="1300" dirty="0"/>
          </a:p>
        </p:txBody>
      </p:sp>
      <p:sp>
        <p:nvSpPr>
          <p:cNvPr id="18" name="Text 16"/>
          <p:cNvSpPr/>
          <p:nvPr/>
        </p:nvSpPr>
        <p:spPr>
          <a:xfrm>
            <a:off x="971401" y="4255591"/>
            <a:ext cx="7403515" cy="214461"/>
          </a:xfrm>
          <a:prstGeom prst="rect">
            <a:avLst/>
          </a:prstGeom>
          <a:noFill/>
          <a:ln/>
        </p:spPr>
        <p:txBody>
          <a:bodyPr wrap="square" lIns="0" tIns="0" rIns="0" bIns="0" rtlCol="0" anchor="t"/>
          <a:lstStyle/>
          <a:p>
            <a:pPr marL="0" indent="0" algn="l">
              <a:lnSpc>
                <a:spcPts val="1690"/>
              </a:lnSpc>
              <a:spcAft>
                <a:spcPts val="100"/>
              </a:spcAft>
              <a:buNone/>
            </a:pPr>
            <a:r>
              <a:rPr lang="en-US" sz="1300" dirty="0">
                <a:solidFill>
                  <a:srgbClr val="CCCBCB"/>
                </a:solidFill>
                <a:latin typeface="Courier New" pitchFamily="34" charset="0"/>
                <a:ea typeface="Courier New" pitchFamily="34" charset="-122"/>
                <a:cs typeface="Courier New" pitchFamily="34" charset="-120"/>
              </a:rPr>
              <a:t>TDD mandatory | Zero tech debt | Scope discipline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457200"/>
            <a:ext cx="8031682" cy="409575"/>
          </a:xfrm>
          <a:prstGeom prst="rect">
            <a:avLst/>
          </a:prstGeom>
          <a:noFill/>
          <a:ln/>
        </p:spPr>
        <p:txBody>
          <a:bodyPr wrap="square" lIns="0" tIns="0" rIns="0" bIns="0" rtlCol="0" anchor="t"/>
          <a:lstStyle/>
          <a:p>
            <a:pPr marL="0" indent="0" algn="l">
              <a:spcBef>
                <a:spcPts val="3600"/>
              </a:spcBef>
              <a:spcAft>
                <a:spcPts val="2400"/>
              </a:spcAft>
              <a:buNone/>
            </a:pPr>
            <a:r>
              <a:rPr lang="en-US" sz="2800" b="1" dirty="0">
                <a:solidFill>
                  <a:srgbClr val="292929"/>
                </a:solidFill>
                <a:latin typeface="Arial" pitchFamily="34" charset="0"/>
                <a:ea typeface="Arial" pitchFamily="34" charset="-122"/>
                <a:cs typeface="Arial" pitchFamily="34" charset="-120"/>
              </a:rPr>
              <a:t>AGENTS — ROLE-BASED SPECIALISTS</a:t>
            </a:r>
            <a:endParaRPr lang="en-US" sz="2800" dirty="0"/>
          </a:p>
        </p:txBody>
      </p:sp>
      <p:sp>
        <p:nvSpPr>
          <p:cNvPr id="3" name="Shape 1"/>
          <p:cNvSpPr/>
          <p:nvPr/>
        </p:nvSpPr>
        <p:spPr>
          <a:xfrm>
            <a:off x="663476" y="1269950"/>
            <a:ext cx="0" cy="473571"/>
          </a:xfrm>
          <a:prstGeom prst="line">
            <a:avLst/>
          </a:prstGeom>
          <a:noFill/>
          <a:ln w="57150">
            <a:solidFill>
              <a:srgbClr val="E33737"/>
            </a:solidFill>
            <a:prstDash val="solid"/>
          </a:ln>
        </p:spPr>
        <p:txBody>
          <a:bodyPr/>
          <a:lstStyle/>
          <a:p>
            <a:endParaRPr lang="en-NL"/>
          </a:p>
        </p:txBody>
      </p:sp>
      <p:sp>
        <p:nvSpPr>
          <p:cNvPr id="4" name="Text 2"/>
          <p:cNvSpPr/>
          <p:nvPr/>
        </p:nvSpPr>
        <p:spPr>
          <a:xfrm>
            <a:off x="920651" y="1269950"/>
            <a:ext cx="7740217" cy="209550"/>
          </a:xfrm>
          <a:prstGeom prst="rect">
            <a:avLst/>
          </a:prstGeom>
          <a:noFill/>
          <a:ln/>
        </p:spPr>
        <p:txBody>
          <a:bodyPr wrap="square" lIns="0" tIns="0" rIns="0" bIns="0" rtlCol="0" anchor="t"/>
          <a:lstStyle/>
          <a:p>
            <a:pPr marL="0" indent="0" algn="l">
              <a:spcAft>
                <a:spcPts val="400"/>
              </a:spcAft>
              <a:buNone/>
            </a:pPr>
            <a:r>
              <a:rPr lang="en-US" sz="1400" b="1" dirty="0">
                <a:solidFill>
                  <a:srgbClr val="292929"/>
                </a:solidFill>
                <a:latin typeface="Arial" pitchFamily="34" charset="0"/>
                <a:ea typeface="Arial" pitchFamily="34" charset="-122"/>
                <a:cs typeface="Arial" pitchFamily="34" charset="-120"/>
              </a:rPr>
              <a:t>Agents play roles in your process</a:t>
            </a:r>
            <a:endParaRPr lang="en-US" sz="1400" dirty="0"/>
          </a:p>
        </p:txBody>
      </p:sp>
      <p:sp>
        <p:nvSpPr>
          <p:cNvPr id="5" name="Text 3"/>
          <p:cNvSpPr/>
          <p:nvPr/>
        </p:nvSpPr>
        <p:spPr>
          <a:xfrm>
            <a:off x="920651" y="1530251"/>
            <a:ext cx="7740217" cy="21327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Developer, business analyst, QA, architect, tech writer — each a specialist.</a:t>
            </a:r>
            <a:endParaRPr lang="en-US" sz="1200" dirty="0"/>
          </a:p>
        </p:txBody>
      </p:sp>
      <p:sp>
        <p:nvSpPr>
          <p:cNvPr id="6" name="Shape 4"/>
          <p:cNvSpPr/>
          <p:nvPr/>
        </p:nvSpPr>
        <p:spPr>
          <a:xfrm>
            <a:off x="663476" y="1921222"/>
            <a:ext cx="0" cy="473571"/>
          </a:xfrm>
          <a:prstGeom prst="line">
            <a:avLst/>
          </a:prstGeom>
          <a:noFill/>
          <a:ln w="57150">
            <a:solidFill>
              <a:srgbClr val="E33737"/>
            </a:solidFill>
            <a:prstDash val="solid"/>
          </a:ln>
        </p:spPr>
        <p:txBody>
          <a:bodyPr/>
          <a:lstStyle/>
          <a:p>
            <a:endParaRPr lang="en-NL"/>
          </a:p>
        </p:txBody>
      </p:sp>
      <p:sp>
        <p:nvSpPr>
          <p:cNvPr id="7" name="Text 5"/>
          <p:cNvSpPr/>
          <p:nvPr/>
        </p:nvSpPr>
        <p:spPr>
          <a:xfrm>
            <a:off x="920651" y="1921222"/>
            <a:ext cx="7740217" cy="209550"/>
          </a:xfrm>
          <a:prstGeom prst="rect">
            <a:avLst/>
          </a:prstGeom>
          <a:noFill/>
          <a:ln/>
        </p:spPr>
        <p:txBody>
          <a:bodyPr wrap="square" lIns="0" tIns="0" rIns="0" bIns="0" rtlCol="0" anchor="t"/>
          <a:lstStyle/>
          <a:p>
            <a:pPr marL="0" indent="0" algn="l">
              <a:spcAft>
                <a:spcPts val="400"/>
              </a:spcAft>
              <a:buNone/>
            </a:pPr>
            <a:r>
              <a:rPr lang="en-US" sz="1400" b="1" dirty="0">
                <a:solidFill>
                  <a:srgbClr val="292929"/>
                </a:solidFill>
                <a:latin typeface="Arial" pitchFamily="34" charset="0"/>
                <a:ea typeface="Arial" pitchFamily="34" charset="-122"/>
                <a:cs typeface="Arial" pitchFamily="34" charset="-120"/>
              </a:rPr>
              <a:t>Start with what you need</a:t>
            </a:r>
            <a:endParaRPr lang="en-US" sz="1400" dirty="0"/>
          </a:p>
        </p:txBody>
      </p:sp>
      <p:sp>
        <p:nvSpPr>
          <p:cNvPr id="8" name="Text 6"/>
          <p:cNvSpPr/>
          <p:nvPr/>
        </p:nvSpPr>
        <p:spPr>
          <a:xfrm>
            <a:off x="920651" y="2181523"/>
            <a:ext cx="7740217" cy="21327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For this demo: developer + business analyst. Add roles when the process demands it.</a:t>
            </a:r>
            <a:endParaRPr lang="en-US" sz="1200" dirty="0"/>
          </a:p>
        </p:txBody>
      </p:sp>
      <p:sp>
        <p:nvSpPr>
          <p:cNvPr id="9" name="Shape 7"/>
          <p:cNvSpPr/>
          <p:nvPr/>
        </p:nvSpPr>
        <p:spPr>
          <a:xfrm>
            <a:off x="663476" y="2572494"/>
            <a:ext cx="0" cy="473571"/>
          </a:xfrm>
          <a:prstGeom prst="line">
            <a:avLst/>
          </a:prstGeom>
          <a:noFill/>
          <a:ln w="57150">
            <a:solidFill>
              <a:srgbClr val="E33737"/>
            </a:solidFill>
            <a:prstDash val="solid"/>
          </a:ln>
        </p:spPr>
        <p:txBody>
          <a:bodyPr/>
          <a:lstStyle/>
          <a:p>
            <a:endParaRPr lang="en-NL"/>
          </a:p>
        </p:txBody>
      </p:sp>
      <p:sp>
        <p:nvSpPr>
          <p:cNvPr id="10" name="Text 8"/>
          <p:cNvSpPr/>
          <p:nvPr/>
        </p:nvSpPr>
        <p:spPr>
          <a:xfrm>
            <a:off x="920651" y="2572494"/>
            <a:ext cx="7740217" cy="209550"/>
          </a:xfrm>
          <a:prstGeom prst="rect">
            <a:avLst/>
          </a:prstGeom>
          <a:noFill/>
          <a:ln/>
        </p:spPr>
        <p:txBody>
          <a:bodyPr wrap="square" lIns="0" tIns="0" rIns="0" bIns="0" rtlCol="0" anchor="t"/>
          <a:lstStyle/>
          <a:p>
            <a:pPr marL="0" indent="0" algn="l">
              <a:spcAft>
                <a:spcPts val="400"/>
              </a:spcAft>
              <a:buNone/>
            </a:pPr>
            <a:r>
              <a:rPr lang="en-US" sz="1400" b="1" dirty="0">
                <a:solidFill>
                  <a:srgbClr val="292929"/>
                </a:solidFill>
                <a:latin typeface="Arial" pitchFamily="34" charset="0"/>
                <a:ea typeface="Arial" pitchFamily="34" charset="-122"/>
                <a:cs typeface="Arial" pitchFamily="34" charset="-120"/>
              </a:rPr>
              <a:t>YAGNI</a:t>
            </a:r>
            <a:endParaRPr lang="en-US" sz="1400" dirty="0"/>
          </a:p>
        </p:txBody>
      </p:sp>
      <p:sp>
        <p:nvSpPr>
          <p:cNvPr id="11" name="Text 9"/>
          <p:cNvSpPr/>
          <p:nvPr/>
        </p:nvSpPr>
        <p:spPr>
          <a:xfrm>
            <a:off x="920651" y="2832795"/>
            <a:ext cx="7740217" cy="21327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Don't build agents you won't use yet. Complexity grows fast enough on its own.</a:t>
            </a:r>
            <a:endParaRPr lang="en-US" sz="1200" dirty="0"/>
          </a:p>
        </p:txBody>
      </p:sp>
      <p:sp>
        <p:nvSpPr>
          <p:cNvPr id="12" name="Shape 10"/>
          <p:cNvSpPr/>
          <p:nvPr/>
        </p:nvSpPr>
        <p:spPr>
          <a:xfrm>
            <a:off x="663476" y="3223766"/>
            <a:ext cx="0" cy="473571"/>
          </a:xfrm>
          <a:prstGeom prst="line">
            <a:avLst/>
          </a:prstGeom>
          <a:noFill/>
          <a:ln w="57150">
            <a:solidFill>
              <a:srgbClr val="E33737"/>
            </a:solidFill>
            <a:prstDash val="solid"/>
          </a:ln>
        </p:spPr>
        <p:txBody>
          <a:bodyPr/>
          <a:lstStyle/>
          <a:p>
            <a:endParaRPr lang="en-NL"/>
          </a:p>
        </p:txBody>
      </p:sp>
      <p:sp>
        <p:nvSpPr>
          <p:cNvPr id="13" name="Text 11"/>
          <p:cNvSpPr/>
          <p:nvPr/>
        </p:nvSpPr>
        <p:spPr>
          <a:xfrm>
            <a:off x="920651" y="3223766"/>
            <a:ext cx="7740217" cy="209550"/>
          </a:xfrm>
          <a:prstGeom prst="rect">
            <a:avLst/>
          </a:prstGeom>
          <a:noFill/>
          <a:ln/>
        </p:spPr>
        <p:txBody>
          <a:bodyPr wrap="square" lIns="0" tIns="0" rIns="0" bIns="0" rtlCol="0" anchor="t"/>
          <a:lstStyle/>
          <a:p>
            <a:pPr marL="0" indent="0" algn="l">
              <a:spcAft>
                <a:spcPts val="400"/>
              </a:spcAft>
              <a:buNone/>
            </a:pPr>
            <a:r>
              <a:rPr lang="en-US" sz="1400" b="1" dirty="0">
                <a:solidFill>
                  <a:srgbClr val="292929"/>
                </a:solidFill>
                <a:latin typeface="Arial" pitchFamily="34" charset="0"/>
                <a:ea typeface="Arial" pitchFamily="34" charset="-122"/>
                <a:cs typeface="Arial" pitchFamily="34" charset="-120"/>
              </a:rPr>
              <a:t>Fresh instance for adversarial review</a:t>
            </a:r>
            <a:endParaRPr lang="en-US" sz="1400" dirty="0"/>
          </a:p>
        </p:txBody>
      </p:sp>
      <p:sp>
        <p:nvSpPr>
          <p:cNvPr id="14" name="Text 12"/>
          <p:cNvSpPr/>
          <p:nvPr/>
        </p:nvSpPr>
        <p:spPr>
          <a:xfrm>
            <a:off x="920651" y="3484066"/>
            <a:ext cx="7740217" cy="21327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Fresh eyes = no confirmation bias. Real quality from independent review.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457200"/>
            <a:ext cx="8031682" cy="466725"/>
          </a:xfrm>
          <a:prstGeom prst="rect">
            <a:avLst/>
          </a:prstGeom>
          <a:noFill/>
          <a:ln/>
        </p:spPr>
        <p:txBody>
          <a:bodyPr wrap="square" lIns="0" tIns="0" rIns="0" bIns="0" rtlCol="0" anchor="t"/>
          <a:lstStyle/>
          <a:p>
            <a:pPr marL="0" indent="0" algn="l">
              <a:spcBef>
                <a:spcPts val="3600"/>
              </a:spcBef>
              <a:spcAft>
                <a:spcPts val="2000"/>
              </a:spcAft>
              <a:buNone/>
            </a:pPr>
            <a:r>
              <a:rPr lang="en-US" sz="3200" b="1" dirty="0">
                <a:solidFill>
                  <a:srgbClr val="292929"/>
                </a:solidFill>
                <a:latin typeface="Arial" pitchFamily="34" charset="0"/>
                <a:ea typeface="Arial" pitchFamily="34" charset="-122"/>
                <a:cs typeface="Arial" pitchFamily="34" charset="-120"/>
              </a:rPr>
              <a:t>SKILLS — THE SCALING LEVER</a:t>
            </a:r>
            <a:endParaRPr lang="en-US" sz="3200" dirty="0"/>
          </a:p>
        </p:txBody>
      </p:sp>
      <p:sp>
        <p:nvSpPr>
          <p:cNvPr id="3" name="Shape 1"/>
          <p:cNvSpPr/>
          <p:nvPr/>
        </p:nvSpPr>
        <p:spPr>
          <a:xfrm>
            <a:off x="663476" y="1206401"/>
            <a:ext cx="0" cy="686842"/>
          </a:xfrm>
          <a:prstGeom prst="line">
            <a:avLst/>
          </a:prstGeom>
          <a:noFill/>
          <a:ln w="57150">
            <a:solidFill>
              <a:srgbClr val="E33737"/>
            </a:solidFill>
            <a:prstDash val="solid"/>
          </a:ln>
        </p:spPr>
        <p:txBody>
          <a:bodyPr/>
          <a:lstStyle/>
          <a:p>
            <a:endParaRPr lang="en-NL"/>
          </a:p>
        </p:txBody>
      </p:sp>
      <p:sp>
        <p:nvSpPr>
          <p:cNvPr id="4" name="Text 2"/>
          <p:cNvSpPr/>
          <p:nvPr/>
        </p:nvSpPr>
        <p:spPr>
          <a:xfrm>
            <a:off x="920651" y="1206401"/>
            <a:ext cx="3724224" cy="209550"/>
          </a:xfrm>
          <a:prstGeom prst="rect">
            <a:avLst/>
          </a:prstGeom>
          <a:noFill/>
          <a:ln/>
        </p:spPr>
        <p:txBody>
          <a:bodyPr wrap="square" lIns="0" tIns="0" rIns="0" bIns="0" rtlCol="0" anchor="t"/>
          <a:lstStyle/>
          <a:p>
            <a:pPr marL="0" indent="0" algn="l">
              <a:spcAft>
                <a:spcPts val="400"/>
              </a:spcAft>
              <a:buNone/>
            </a:pPr>
            <a:r>
              <a:rPr lang="en-US" sz="1400" b="1" dirty="0">
                <a:solidFill>
                  <a:srgbClr val="292929"/>
                </a:solidFill>
                <a:latin typeface="Arial" pitchFamily="34" charset="0"/>
                <a:ea typeface="Arial" pitchFamily="34" charset="-122"/>
                <a:cs typeface="Arial" pitchFamily="34" charset="-120"/>
              </a:rPr>
              <a:t>Injectable expertise</a:t>
            </a:r>
            <a:endParaRPr lang="en-US" sz="1400" dirty="0"/>
          </a:p>
        </p:txBody>
      </p:sp>
      <p:sp>
        <p:nvSpPr>
          <p:cNvPr id="5" name="Text 3"/>
          <p:cNvSpPr/>
          <p:nvPr/>
        </p:nvSpPr>
        <p:spPr>
          <a:xfrm>
            <a:off x="920651" y="1466701"/>
            <a:ext cx="3724224" cy="42654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Auto-loaded when relevant. No manual context management.</a:t>
            </a:r>
            <a:endParaRPr lang="en-US" sz="1200" dirty="0"/>
          </a:p>
        </p:txBody>
      </p:sp>
      <p:sp>
        <p:nvSpPr>
          <p:cNvPr id="6" name="Shape 4"/>
          <p:cNvSpPr/>
          <p:nvPr/>
        </p:nvSpPr>
        <p:spPr>
          <a:xfrm>
            <a:off x="663476" y="2070943"/>
            <a:ext cx="0" cy="900113"/>
          </a:xfrm>
          <a:prstGeom prst="line">
            <a:avLst/>
          </a:prstGeom>
          <a:noFill/>
          <a:ln w="57150">
            <a:solidFill>
              <a:srgbClr val="E33737"/>
            </a:solidFill>
            <a:prstDash val="solid"/>
          </a:ln>
        </p:spPr>
        <p:txBody>
          <a:bodyPr/>
          <a:lstStyle/>
          <a:p>
            <a:endParaRPr lang="en-NL"/>
          </a:p>
        </p:txBody>
      </p:sp>
      <p:sp>
        <p:nvSpPr>
          <p:cNvPr id="7" name="Text 5"/>
          <p:cNvSpPr/>
          <p:nvPr/>
        </p:nvSpPr>
        <p:spPr>
          <a:xfrm>
            <a:off x="920651" y="2070943"/>
            <a:ext cx="3724224" cy="209550"/>
          </a:xfrm>
          <a:prstGeom prst="rect">
            <a:avLst/>
          </a:prstGeom>
          <a:noFill/>
          <a:ln/>
        </p:spPr>
        <p:txBody>
          <a:bodyPr wrap="square" lIns="0" tIns="0" rIns="0" bIns="0" rtlCol="0" anchor="t"/>
          <a:lstStyle/>
          <a:p>
            <a:pPr marL="0" indent="0" algn="l">
              <a:spcAft>
                <a:spcPts val="400"/>
              </a:spcAft>
              <a:buNone/>
            </a:pPr>
            <a:r>
              <a:rPr lang="en-US" sz="1400" b="1" dirty="0">
                <a:solidFill>
                  <a:srgbClr val="292929"/>
                </a:solidFill>
                <a:latin typeface="Arial" pitchFamily="34" charset="0"/>
                <a:ea typeface="Arial" pitchFamily="34" charset="-122"/>
                <a:cs typeface="Arial" pitchFamily="34" charset="-120"/>
              </a:rPr>
              <a:t>Three types of knowledge</a:t>
            </a:r>
            <a:endParaRPr lang="en-US" sz="1400" dirty="0"/>
          </a:p>
        </p:txBody>
      </p:sp>
      <p:sp>
        <p:nvSpPr>
          <p:cNvPr id="8" name="Text 6"/>
          <p:cNvSpPr/>
          <p:nvPr/>
        </p:nvSpPr>
        <p:spPr>
          <a:xfrm>
            <a:off x="920651" y="2331244"/>
            <a:ext cx="3724224" cy="639812"/>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Domain (e.g., fairness metrics), framework (e.g., patterns, APIs), technical (e.g., architecture decisions).</a:t>
            </a:r>
            <a:endParaRPr lang="en-US" sz="1200" dirty="0"/>
          </a:p>
        </p:txBody>
      </p:sp>
      <p:sp>
        <p:nvSpPr>
          <p:cNvPr id="9" name="Shape 7"/>
          <p:cNvSpPr/>
          <p:nvPr/>
        </p:nvSpPr>
        <p:spPr>
          <a:xfrm>
            <a:off x="663476" y="3148757"/>
            <a:ext cx="0" cy="686842"/>
          </a:xfrm>
          <a:prstGeom prst="line">
            <a:avLst/>
          </a:prstGeom>
          <a:noFill/>
          <a:ln w="57150">
            <a:solidFill>
              <a:srgbClr val="E33737"/>
            </a:solidFill>
            <a:prstDash val="solid"/>
          </a:ln>
        </p:spPr>
        <p:txBody>
          <a:bodyPr/>
          <a:lstStyle/>
          <a:p>
            <a:endParaRPr lang="en-NL"/>
          </a:p>
        </p:txBody>
      </p:sp>
      <p:sp>
        <p:nvSpPr>
          <p:cNvPr id="10" name="Text 8"/>
          <p:cNvSpPr/>
          <p:nvPr/>
        </p:nvSpPr>
        <p:spPr>
          <a:xfrm>
            <a:off x="920651" y="3148757"/>
            <a:ext cx="3724224" cy="209550"/>
          </a:xfrm>
          <a:prstGeom prst="rect">
            <a:avLst/>
          </a:prstGeom>
          <a:noFill/>
          <a:ln/>
        </p:spPr>
        <p:txBody>
          <a:bodyPr wrap="square" lIns="0" tIns="0" rIns="0" bIns="0" rtlCol="0" anchor="t"/>
          <a:lstStyle/>
          <a:p>
            <a:pPr marL="0" indent="0" algn="l">
              <a:spcAft>
                <a:spcPts val="400"/>
              </a:spcAft>
              <a:buNone/>
            </a:pPr>
            <a:r>
              <a:rPr lang="en-US" sz="1400" b="1" dirty="0">
                <a:solidFill>
                  <a:srgbClr val="292929"/>
                </a:solidFill>
                <a:latin typeface="Arial" pitchFamily="34" charset="0"/>
                <a:ea typeface="Arial" pitchFamily="34" charset="-122"/>
                <a:cs typeface="Arial" pitchFamily="34" charset="-120"/>
              </a:rPr>
              <a:t>Reusable across projects</a:t>
            </a:r>
            <a:endParaRPr lang="en-US" sz="1400" dirty="0"/>
          </a:p>
        </p:txBody>
      </p:sp>
      <p:sp>
        <p:nvSpPr>
          <p:cNvPr id="11" name="Text 9"/>
          <p:cNvSpPr/>
          <p:nvPr/>
        </p:nvSpPr>
        <p:spPr>
          <a:xfrm>
            <a:off x="920651" y="3409057"/>
            <a:ext cx="3724224" cy="42654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Same skills power multiple codebases. New project bootstraps in hours, not days.</a:t>
            </a:r>
            <a:endParaRPr lang="en-US" sz="1200" dirty="0"/>
          </a:p>
        </p:txBody>
      </p:sp>
      <p:sp>
        <p:nvSpPr>
          <p:cNvPr id="12" name="Shape 10"/>
          <p:cNvSpPr/>
          <p:nvPr/>
        </p:nvSpPr>
        <p:spPr>
          <a:xfrm>
            <a:off x="663476" y="4013299"/>
            <a:ext cx="0" cy="473571"/>
          </a:xfrm>
          <a:prstGeom prst="line">
            <a:avLst/>
          </a:prstGeom>
          <a:noFill/>
          <a:ln w="57150">
            <a:solidFill>
              <a:srgbClr val="E33737"/>
            </a:solidFill>
            <a:prstDash val="solid"/>
          </a:ln>
        </p:spPr>
        <p:txBody>
          <a:bodyPr/>
          <a:lstStyle/>
          <a:p>
            <a:endParaRPr lang="en-NL"/>
          </a:p>
        </p:txBody>
      </p:sp>
      <p:sp>
        <p:nvSpPr>
          <p:cNvPr id="13" name="Text 11"/>
          <p:cNvSpPr/>
          <p:nvPr/>
        </p:nvSpPr>
        <p:spPr>
          <a:xfrm>
            <a:off x="920651" y="4013299"/>
            <a:ext cx="3724224" cy="209550"/>
          </a:xfrm>
          <a:prstGeom prst="rect">
            <a:avLst/>
          </a:prstGeom>
          <a:noFill/>
          <a:ln/>
        </p:spPr>
        <p:txBody>
          <a:bodyPr wrap="square" lIns="0" tIns="0" rIns="0" bIns="0" rtlCol="0" anchor="t"/>
          <a:lstStyle/>
          <a:p>
            <a:pPr marL="0" indent="0" algn="l">
              <a:spcAft>
                <a:spcPts val="400"/>
              </a:spcAft>
              <a:buNone/>
            </a:pPr>
            <a:r>
              <a:rPr lang="en-US" sz="1400" b="1" dirty="0">
                <a:solidFill>
                  <a:srgbClr val="E33737"/>
                </a:solidFill>
                <a:latin typeface="Arial" pitchFamily="34" charset="0"/>
                <a:ea typeface="Arial" pitchFamily="34" charset="-122"/>
                <a:cs typeface="Arial" pitchFamily="34" charset="-120"/>
              </a:rPr>
              <a:t>This is how expertise scales</a:t>
            </a:r>
            <a:endParaRPr lang="en-US" sz="1400" dirty="0"/>
          </a:p>
        </p:txBody>
      </p:sp>
      <p:sp>
        <p:nvSpPr>
          <p:cNvPr id="14" name="Text 12"/>
          <p:cNvSpPr/>
          <p:nvPr/>
        </p:nvSpPr>
        <p:spPr>
          <a:xfrm>
            <a:off x="920651" y="4273600"/>
            <a:ext cx="3724224" cy="213271"/>
          </a:xfrm>
          <a:prstGeom prst="rect">
            <a:avLst/>
          </a:prstGeom>
          <a:noFill/>
          <a:ln/>
        </p:spPr>
        <p:txBody>
          <a:bodyPr wrap="square" lIns="0" tIns="0" rIns="0" bIns="0" rtlCol="0" anchor="t"/>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Your knowledge, encoded once, applied everywhere.</a:t>
            </a:r>
            <a:endParaRPr lang="en-US" sz="1200" dirty="0"/>
          </a:p>
        </p:txBody>
      </p:sp>
      <p:sp>
        <p:nvSpPr>
          <p:cNvPr id="15" name="Text 13"/>
          <p:cNvSpPr/>
          <p:nvPr/>
        </p:nvSpPr>
        <p:spPr>
          <a:xfrm>
            <a:off x="4753273" y="1206401"/>
            <a:ext cx="3755827" cy="2018407"/>
          </a:xfrm>
          <a:prstGeom prst="rect">
            <a:avLst/>
          </a:prstGeom>
          <a:solidFill>
            <a:srgbClr val="292929"/>
          </a:solidFill>
          <a:ln/>
        </p:spPr>
        <p:txBody>
          <a:bodyPr wrap="square" rtlCol="0" anchor="ctr"/>
          <a:lstStyle/>
          <a:p>
            <a:pPr marL="0" indent="0">
              <a:buNone/>
            </a:pPr>
            <a:endParaRPr lang="en-US" dirty="0"/>
          </a:p>
        </p:txBody>
      </p:sp>
      <p:sp>
        <p:nvSpPr>
          <p:cNvPr id="16" name="Shape 14"/>
          <p:cNvSpPr/>
          <p:nvPr/>
        </p:nvSpPr>
        <p:spPr>
          <a:xfrm>
            <a:off x="4777085" y="1206401"/>
            <a:ext cx="0" cy="2018407"/>
          </a:xfrm>
          <a:prstGeom prst="line">
            <a:avLst/>
          </a:prstGeom>
          <a:noFill/>
          <a:ln w="47625">
            <a:solidFill>
              <a:srgbClr val="E33737"/>
            </a:solidFill>
            <a:prstDash val="solid"/>
          </a:ln>
        </p:spPr>
        <p:txBody>
          <a:bodyPr/>
          <a:lstStyle/>
          <a:p>
            <a:endParaRPr lang="en-NL"/>
          </a:p>
        </p:txBody>
      </p:sp>
      <p:sp>
        <p:nvSpPr>
          <p:cNvPr id="17" name="Text 15"/>
          <p:cNvSpPr/>
          <p:nvPr/>
        </p:nvSpPr>
        <p:spPr>
          <a:xfrm>
            <a:off x="5004048" y="1409551"/>
            <a:ext cx="3367939" cy="133350"/>
          </a:xfrm>
          <a:prstGeom prst="rect">
            <a:avLst/>
          </a:prstGeom>
          <a:noFill/>
          <a:ln/>
        </p:spPr>
        <p:txBody>
          <a:bodyPr wrap="square" lIns="0" tIns="0" rIns="0" bIns="0" rtlCol="0" anchor="t"/>
          <a:lstStyle/>
          <a:p>
            <a:pPr marL="0" indent="0" algn="l">
              <a:spcAft>
                <a:spcPts val="800"/>
              </a:spcAft>
              <a:buNone/>
            </a:pPr>
            <a:r>
              <a:rPr lang="en-US" sz="900" b="1" dirty="0">
                <a:solidFill>
                  <a:srgbClr val="E33737"/>
                </a:solidFill>
                <a:latin typeface="Arial" pitchFamily="34" charset="0"/>
                <a:ea typeface="Arial" pitchFamily="34" charset="-122"/>
                <a:cs typeface="Arial" pitchFamily="34" charset="-120"/>
              </a:rPr>
              <a:t>EXAMPLE: FAIRNESS-METRICS SKILL</a:t>
            </a:r>
            <a:endParaRPr lang="en-US" sz="900" dirty="0"/>
          </a:p>
        </p:txBody>
      </p:sp>
      <p:sp>
        <p:nvSpPr>
          <p:cNvPr id="18" name="Text 16"/>
          <p:cNvSpPr/>
          <p:nvPr/>
        </p:nvSpPr>
        <p:spPr>
          <a:xfrm>
            <a:off x="5004048" y="1644402"/>
            <a:ext cx="3367939" cy="171450"/>
          </a:xfrm>
          <a:prstGeom prst="rect">
            <a:avLst/>
          </a:prstGeom>
          <a:noFill/>
          <a:ln/>
        </p:spPr>
        <p:txBody>
          <a:bodyPr wrap="square" lIns="0" tIns="0" rIns="0" bIns="0" rtlCol="0" anchor="t"/>
          <a:lstStyle/>
          <a:p>
            <a:pPr marL="0" indent="0" algn="l">
              <a:lnSpc>
                <a:spcPts val="1350"/>
              </a:lnSpc>
              <a:spcAft>
                <a:spcPts val="200"/>
              </a:spcAft>
              <a:buNone/>
            </a:pPr>
            <a:r>
              <a:rPr lang="en-US" sz="900" dirty="0">
                <a:solidFill>
                  <a:srgbClr val="CCCBCB"/>
                </a:solidFill>
                <a:latin typeface="Courier New" pitchFamily="34" charset="0"/>
                <a:ea typeface="Courier New" pitchFamily="34" charset="-122"/>
                <a:cs typeface="Courier New" pitchFamily="34" charset="-120"/>
              </a:rPr>
              <a:t>definitions:</a:t>
            </a:r>
            <a:endParaRPr lang="en-US" sz="900" dirty="0"/>
          </a:p>
        </p:txBody>
      </p:sp>
      <p:sp>
        <p:nvSpPr>
          <p:cNvPr id="19" name="Text 17"/>
          <p:cNvSpPr/>
          <p:nvPr/>
        </p:nvSpPr>
        <p:spPr>
          <a:xfrm>
            <a:off x="5004048" y="1841153"/>
            <a:ext cx="3367939" cy="171450"/>
          </a:xfrm>
          <a:prstGeom prst="rect">
            <a:avLst/>
          </a:prstGeom>
          <a:noFill/>
          <a:ln/>
        </p:spPr>
        <p:txBody>
          <a:bodyPr wrap="square" lIns="0" tIns="0" rIns="0" bIns="0" rtlCol="0" anchor="t"/>
          <a:lstStyle/>
          <a:p>
            <a:pPr marL="0" indent="0" algn="l">
              <a:lnSpc>
                <a:spcPts val="1350"/>
              </a:lnSpc>
              <a:spcAft>
                <a:spcPts val="200"/>
              </a:spcAft>
              <a:buNone/>
            </a:pPr>
            <a:r>
              <a:rPr lang="en-US" sz="900" dirty="0">
                <a:solidFill>
                  <a:srgbClr val="CCCBCB"/>
                </a:solidFill>
                <a:latin typeface="Courier New" pitchFamily="34" charset="0"/>
                <a:ea typeface="Courier New" pitchFamily="34" charset="-122"/>
                <a:cs typeface="Courier New" pitchFamily="34" charset="-120"/>
              </a:rPr>
              <a:t>demographic_parity:</a:t>
            </a:r>
            <a:endParaRPr lang="en-US" sz="900" dirty="0"/>
          </a:p>
        </p:txBody>
      </p:sp>
      <p:sp>
        <p:nvSpPr>
          <p:cNvPr id="20" name="Text 18"/>
          <p:cNvSpPr/>
          <p:nvPr/>
        </p:nvSpPr>
        <p:spPr>
          <a:xfrm>
            <a:off x="5004048" y="2037904"/>
            <a:ext cx="3367939" cy="171450"/>
          </a:xfrm>
          <a:prstGeom prst="rect">
            <a:avLst/>
          </a:prstGeom>
          <a:noFill/>
          <a:ln/>
        </p:spPr>
        <p:txBody>
          <a:bodyPr wrap="square" lIns="0" tIns="0" rIns="0" bIns="0" rtlCol="0" anchor="t"/>
          <a:lstStyle/>
          <a:p>
            <a:pPr marL="0" indent="0" algn="l">
              <a:lnSpc>
                <a:spcPts val="1350"/>
              </a:lnSpc>
              <a:spcAft>
                <a:spcPts val="200"/>
              </a:spcAft>
              <a:buNone/>
            </a:pPr>
            <a:r>
              <a:rPr lang="en-US" sz="900" dirty="0">
                <a:solidFill>
                  <a:srgbClr val="CCCBCB"/>
                </a:solidFill>
                <a:latin typeface="Courier New" pitchFamily="34" charset="0"/>
                <a:ea typeface="Courier New" pitchFamily="34" charset="-122"/>
                <a:cs typeface="Courier New" pitchFamily="34" charset="-120"/>
              </a:rPr>
              <a:t>formula: P(Y=1|A=a) = P(Y=1|A=b)</a:t>
            </a:r>
            <a:endParaRPr lang="en-US" sz="900" dirty="0"/>
          </a:p>
        </p:txBody>
      </p:sp>
      <p:sp>
        <p:nvSpPr>
          <p:cNvPr id="21" name="Text 19"/>
          <p:cNvSpPr/>
          <p:nvPr/>
        </p:nvSpPr>
        <p:spPr>
          <a:xfrm>
            <a:off x="5004048" y="2234654"/>
            <a:ext cx="3367939" cy="171450"/>
          </a:xfrm>
          <a:prstGeom prst="rect">
            <a:avLst/>
          </a:prstGeom>
          <a:noFill/>
          <a:ln/>
        </p:spPr>
        <p:txBody>
          <a:bodyPr wrap="square" lIns="0" tIns="0" rIns="0" bIns="0" rtlCol="0" anchor="t"/>
          <a:lstStyle/>
          <a:p>
            <a:pPr marL="0" indent="0" algn="l">
              <a:lnSpc>
                <a:spcPts val="1350"/>
              </a:lnSpc>
              <a:spcAft>
                <a:spcPts val="200"/>
              </a:spcAft>
              <a:buNone/>
            </a:pPr>
            <a:r>
              <a:rPr lang="en-US" sz="900" dirty="0">
                <a:solidFill>
                  <a:srgbClr val="CCCBCB"/>
                </a:solidFill>
                <a:latin typeface="Courier New" pitchFamily="34" charset="0"/>
                <a:ea typeface="Courier New" pitchFamily="34" charset="-122"/>
                <a:cs typeface="Courier New" pitchFamily="34" charset="-120"/>
              </a:rPr>
              <a:t>threshold: 0.8 (four-fifths rule)</a:t>
            </a:r>
            <a:endParaRPr lang="en-US" sz="900" dirty="0"/>
          </a:p>
        </p:txBody>
      </p:sp>
      <p:sp>
        <p:nvSpPr>
          <p:cNvPr id="22" name="Text 20"/>
          <p:cNvSpPr/>
          <p:nvPr/>
        </p:nvSpPr>
        <p:spPr>
          <a:xfrm>
            <a:off x="5004048" y="2431405"/>
            <a:ext cx="3367939" cy="171450"/>
          </a:xfrm>
          <a:prstGeom prst="rect">
            <a:avLst/>
          </a:prstGeom>
          <a:noFill/>
          <a:ln/>
        </p:spPr>
        <p:txBody>
          <a:bodyPr wrap="square" lIns="0" tIns="0" rIns="0" bIns="0" rtlCol="0" anchor="t"/>
          <a:lstStyle/>
          <a:p>
            <a:pPr marL="0" indent="0" algn="l">
              <a:lnSpc>
                <a:spcPts val="1350"/>
              </a:lnSpc>
              <a:spcAft>
                <a:spcPts val="200"/>
              </a:spcAft>
              <a:buNone/>
            </a:pPr>
            <a:r>
              <a:rPr lang="en-US" sz="900" dirty="0">
                <a:solidFill>
                  <a:srgbClr val="CCCBCB"/>
                </a:solidFill>
                <a:latin typeface="Courier New" pitchFamily="34" charset="0"/>
                <a:ea typeface="Courier New" pitchFamily="34" charset="-122"/>
                <a:cs typeface="Courier New" pitchFamily="34" charset="-120"/>
              </a:rPr>
              <a:t>caveats:</a:t>
            </a:r>
            <a:endParaRPr lang="en-US" sz="900" dirty="0"/>
          </a:p>
        </p:txBody>
      </p:sp>
      <p:sp>
        <p:nvSpPr>
          <p:cNvPr id="23" name="Text 21"/>
          <p:cNvSpPr/>
          <p:nvPr/>
        </p:nvSpPr>
        <p:spPr>
          <a:xfrm>
            <a:off x="5004048" y="2628156"/>
            <a:ext cx="3367939" cy="171450"/>
          </a:xfrm>
          <a:prstGeom prst="rect">
            <a:avLst/>
          </a:prstGeom>
          <a:noFill/>
          <a:ln/>
        </p:spPr>
        <p:txBody>
          <a:bodyPr wrap="square" lIns="0" tIns="0" rIns="0" bIns="0" rtlCol="0" anchor="t"/>
          <a:lstStyle/>
          <a:p>
            <a:pPr marL="0" indent="0" algn="l">
              <a:lnSpc>
                <a:spcPts val="1350"/>
              </a:lnSpc>
              <a:spcAft>
                <a:spcPts val="200"/>
              </a:spcAft>
              <a:buNone/>
            </a:pPr>
            <a:r>
              <a:rPr lang="en-US" sz="900" dirty="0">
                <a:solidFill>
                  <a:srgbClr val="CCCBCB"/>
                </a:solidFill>
                <a:latin typeface="Courier New" pitchFamily="34" charset="0"/>
                <a:ea typeface="Courier New" pitchFamily="34" charset="-122"/>
                <a:cs typeface="Courier New" pitchFamily="34" charset="-120"/>
              </a:rPr>
              <a:t>ignores calibration</a:t>
            </a:r>
            <a:endParaRPr lang="en-US" sz="900" dirty="0"/>
          </a:p>
        </p:txBody>
      </p:sp>
      <p:sp>
        <p:nvSpPr>
          <p:cNvPr id="24" name="Text 22"/>
          <p:cNvSpPr/>
          <p:nvPr/>
        </p:nvSpPr>
        <p:spPr>
          <a:xfrm>
            <a:off x="5004048" y="2824907"/>
            <a:ext cx="3367939" cy="171450"/>
          </a:xfrm>
          <a:prstGeom prst="rect">
            <a:avLst/>
          </a:prstGeom>
          <a:noFill/>
          <a:ln/>
        </p:spPr>
        <p:txBody>
          <a:bodyPr wrap="square" lIns="0" tIns="0" rIns="0" bIns="0" rtlCol="0" anchor="t"/>
          <a:lstStyle/>
          <a:p>
            <a:pPr marL="0" indent="0" algn="l">
              <a:lnSpc>
                <a:spcPts val="1350"/>
              </a:lnSpc>
              <a:spcAft>
                <a:spcPts val="200"/>
              </a:spcAft>
              <a:buNone/>
            </a:pPr>
            <a:r>
              <a:rPr lang="en-US" sz="900" dirty="0">
                <a:solidFill>
                  <a:srgbClr val="CCCBCB"/>
                </a:solidFill>
                <a:latin typeface="Courier New" pitchFamily="34" charset="0"/>
                <a:ea typeface="Courier New" pitchFamily="34" charset="-122"/>
                <a:cs typeface="Courier New" pitchFamily="34" charset="-120"/>
              </a:rPr>
              <a:t>conflicts with equal odds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253901"/>
            <a:ext cx="8031682" cy="409575"/>
          </a:xfrm>
          <a:prstGeom prst="rect">
            <a:avLst/>
          </a:prstGeom>
          <a:noFill/>
          <a:ln/>
        </p:spPr>
        <p:txBody>
          <a:bodyPr wrap="square" lIns="0" tIns="0" rIns="0" bIns="0" rtlCol="0" anchor="t"/>
          <a:lstStyle/>
          <a:p>
            <a:pPr marL="0" indent="0" algn="l">
              <a:spcBef>
                <a:spcPts val="2000"/>
              </a:spcBef>
              <a:spcAft>
                <a:spcPts val="800"/>
              </a:spcAft>
              <a:buNone/>
            </a:pPr>
            <a:r>
              <a:rPr lang="en-US" sz="2800" b="1" dirty="0">
                <a:solidFill>
                  <a:srgbClr val="292929"/>
                </a:solidFill>
                <a:latin typeface="Arial" pitchFamily="34" charset="0"/>
                <a:ea typeface="Arial" pitchFamily="34" charset="-122"/>
                <a:cs typeface="Arial" pitchFamily="34" charset="-120"/>
              </a:rPr>
              <a:t>THE FULL PIPELINE</a:t>
            </a:r>
            <a:endParaRPr lang="en-US" sz="2800" dirty="0"/>
          </a:p>
        </p:txBody>
      </p:sp>
      <p:sp>
        <p:nvSpPr>
          <p:cNvPr id="3" name="Text 1"/>
          <p:cNvSpPr/>
          <p:nvPr/>
        </p:nvSpPr>
        <p:spPr>
          <a:xfrm>
            <a:off x="2012329" y="1408345"/>
            <a:ext cx="1269802" cy="320576"/>
          </a:xfrm>
          <a:prstGeom prst="rect">
            <a:avLst/>
          </a:prstGeom>
          <a:solidFill>
            <a:srgbClr val="292929"/>
          </a:solidFill>
          <a:ln/>
        </p:spPr>
        <p:txBody>
          <a:bodyPr wrap="square" rtlCol="0" anchor="ctr"/>
          <a:lstStyle/>
          <a:p>
            <a:pPr marL="0" indent="0">
              <a:buNone/>
            </a:pPr>
            <a:endParaRPr lang="en-US" dirty="0"/>
          </a:p>
        </p:txBody>
      </p:sp>
      <p:sp>
        <p:nvSpPr>
          <p:cNvPr id="4" name="Text 2"/>
          <p:cNvSpPr/>
          <p:nvPr/>
        </p:nvSpPr>
        <p:spPr>
          <a:xfrm>
            <a:off x="2129120" y="1497195"/>
            <a:ext cx="1036219" cy="142875"/>
          </a:xfrm>
          <a:prstGeom prst="rect">
            <a:avLst/>
          </a:prstGeom>
          <a:noFill/>
          <a:ln/>
        </p:spPr>
        <p:txBody>
          <a:bodyPr wrap="square" lIns="0" tIns="0" rIns="0" bIns="0" rtlCol="0" anchor="t"/>
          <a:lstStyle/>
          <a:p>
            <a:pPr marL="0" indent="0" algn="ctr">
              <a:buNone/>
            </a:pPr>
            <a:r>
              <a:rPr lang="en-US" sz="1000" b="1" dirty="0">
                <a:solidFill>
                  <a:srgbClr val="FFFFFF"/>
                </a:solidFill>
                <a:latin typeface="Arial" pitchFamily="34" charset="0"/>
                <a:ea typeface="Arial" pitchFamily="34" charset="-122"/>
                <a:cs typeface="Arial" pitchFamily="34" charset="-120"/>
              </a:rPr>
              <a:t>BA Agent</a:t>
            </a:r>
            <a:endParaRPr lang="en-US" sz="1000" dirty="0"/>
          </a:p>
        </p:txBody>
      </p:sp>
      <p:sp>
        <p:nvSpPr>
          <p:cNvPr id="5" name="Text 3"/>
          <p:cNvSpPr/>
          <p:nvPr/>
        </p:nvSpPr>
        <p:spPr>
          <a:xfrm>
            <a:off x="3358330" y="1463858"/>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6" name="Text 4"/>
          <p:cNvSpPr/>
          <p:nvPr/>
        </p:nvSpPr>
        <p:spPr>
          <a:xfrm>
            <a:off x="3612380" y="1389295"/>
            <a:ext cx="1688902" cy="358676"/>
          </a:xfrm>
          <a:prstGeom prst="rect">
            <a:avLst/>
          </a:prstGeom>
          <a:noFill/>
          <a:ln w="19050">
            <a:solidFill>
              <a:srgbClr val="292929"/>
            </a:solidFill>
          </a:ln>
        </p:spPr>
        <p:txBody>
          <a:bodyPr wrap="square" rtlCol="0" anchor="ctr"/>
          <a:lstStyle/>
          <a:p>
            <a:pPr marL="0" indent="0">
              <a:buNone/>
            </a:pPr>
            <a:endParaRPr lang="en-US" dirty="0"/>
          </a:p>
        </p:txBody>
      </p:sp>
      <p:sp>
        <p:nvSpPr>
          <p:cNvPr id="7" name="Text 5"/>
          <p:cNvSpPr/>
          <p:nvPr/>
        </p:nvSpPr>
        <p:spPr>
          <a:xfrm>
            <a:off x="3744411" y="1497195"/>
            <a:ext cx="1424839" cy="142875"/>
          </a:xfrm>
          <a:prstGeom prst="rect">
            <a:avLst/>
          </a:prstGeom>
          <a:noFill/>
          <a:ln/>
        </p:spPr>
        <p:txBody>
          <a:bodyPr wrap="square" lIns="0" tIns="0" rIns="0" bIns="0" rtlCol="0" anchor="t"/>
          <a:lstStyle/>
          <a:p>
            <a:pPr marL="0" indent="0" algn="ctr">
              <a:buNone/>
            </a:pPr>
            <a:r>
              <a:rPr lang="en-US" sz="1000" dirty="0">
                <a:solidFill>
                  <a:srgbClr val="292929"/>
                </a:solidFill>
                <a:latin typeface="Arial" pitchFamily="34" charset="0"/>
                <a:ea typeface="Arial" pitchFamily="34" charset="-122"/>
                <a:cs typeface="Arial" pitchFamily="34" charset="-120"/>
              </a:rPr>
              <a:t>Issue (Def. of Ready)</a:t>
            </a:r>
            <a:endParaRPr lang="en-US" sz="1000" dirty="0"/>
          </a:p>
        </p:txBody>
      </p:sp>
      <p:sp>
        <p:nvSpPr>
          <p:cNvPr id="8" name="Text 6"/>
          <p:cNvSpPr/>
          <p:nvPr/>
        </p:nvSpPr>
        <p:spPr>
          <a:xfrm>
            <a:off x="5377482" y="1463858"/>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9" name="Text 7"/>
          <p:cNvSpPr/>
          <p:nvPr/>
        </p:nvSpPr>
        <p:spPr>
          <a:xfrm>
            <a:off x="5631531" y="1408345"/>
            <a:ext cx="1523851" cy="320576"/>
          </a:xfrm>
          <a:prstGeom prst="rect">
            <a:avLst/>
          </a:prstGeom>
          <a:solidFill>
            <a:srgbClr val="E33737"/>
          </a:solidFill>
          <a:ln/>
        </p:spPr>
        <p:txBody>
          <a:bodyPr wrap="square" rtlCol="0" anchor="ctr"/>
          <a:lstStyle/>
          <a:p>
            <a:pPr marL="0" indent="0">
              <a:buNone/>
            </a:pPr>
            <a:endParaRPr lang="en-US" dirty="0"/>
          </a:p>
        </p:txBody>
      </p:sp>
      <p:sp>
        <p:nvSpPr>
          <p:cNvPr id="10" name="Text 8"/>
          <p:cNvSpPr/>
          <p:nvPr/>
        </p:nvSpPr>
        <p:spPr>
          <a:xfrm>
            <a:off x="5745782" y="1497195"/>
            <a:ext cx="1295349" cy="142875"/>
          </a:xfrm>
          <a:prstGeom prst="rect">
            <a:avLst/>
          </a:prstGeom>
          <a:noFill/>
          <a:ln/>
        </p:spPr>
        <p:txBody>
          <a:bodyPr wrap="square" lIns="0" tIns="0" rIns="0" bIns="0" rtlCol="0" anchor="t"/>
          <a:lstStyle/>
          <a:p>
            <a:pPr marL="0" indent="0" algn="ctr">
              <a:buNone/>
            </a:pPr>
            <a:r>
              <a:rPr lang="en-US" sz="1000" b="1" dirty="0">
                <a:solidFill>
                  <a:srgbClr val="FFFFFF"/>
                </a:solidFill>
                <a:latin typeface="Arial" pitchFamily="34" charset="0"/>
                <a:ea typeface="Arial" pitchFamily="34" charset="-122"/>
                <a:cs typeface="Arial" pitchFamily="34" charset="-120"/>
              </a:rPr>
              <a:t>Human Approves</a:t>
            </a:r>
            <a:endParaRPr lang="en-US" sz="1000" dirty="0"/>
          </a:p>
        </p:txBody>
      </p:sp>
      <p:sp>
        <p:nvSpPr>
          <p:cNvPr id="11" name="Text 9"/>
          <p:cNvSpPr/>
          <p:nvPr/>
        </p:nvSpPr>
        <p:spPr>
          <a:xfrm>
            <a:off x="4533031" y="1811371"/>
            <a:ext cx="103683" cy="238125"/>
          </a:xfrm>
          <a:prstGeom prst="rect">
            <a:avLst/>
          </a:prstGeom>
          <a:noFill/>
          <a:ln/>
        </p:spPr>
        <p:txBody>
          <a:bodyPr wrap="square" lIns="0" tIns="0" rIns="0" bIns="0" rtlCol="0" anchor="t"/>
          <a:lstStyle/>
          <a:p>
            <a:pPr marL="0" indent="0" algn="l">
              <a:spcBef>
                <a:spcPts val="100"/>
              </a:spcBef>
              <a:spcAft>
                <a:spcPts val="100"/>
              </a:spcAft>
              <a:buNone/>
            </a:pPr>
            <a:r>
              <a:rPr lang="en-US" sz="1600" dirty="0">
                <a:solidFill>
                  <a:srgbClr val="292929"/>
                </a:solidFill>
                <a:latin typeface="Arial" pitchFamily="34" charset="0"/>
                <a:ea typeface="Arial" pitchFamily="34" charset="-122"/>
                <a:cs typeface="Arial" pitchFamily="34" charset="-120"/>
              </a:rPr>
              <a:t>↓</a:t>
            </a:r>
            <a:endParaRPr lang="en-US" sz="1600" dirty="0"/>
          </a:p>
        </p:txBody>
      </p:sp>
      <p:sp>
        <p:nvSpPr>
          <p:cNvPr id="12" name="Text 10"/>
          <p:cNvSpPr/>
          <p:nvPr/>
        </p:nvSpPr>
        <p:spPr>
          <a:xfrm>
            <a:off x="628227" y="2131947"/>
            <a:ext cx="1269802" cy="320576"/>
          </a:xfrm>
          <a:prstGeom prst="rect">
            <a:avLst/>
          </a:prstGeom>
          <a:solidFill>
            <a:srgbClr val="292929"/>
          </a:solidFill>
          <a:ln/>
        </p:spPr>
        <p:txBody>
          <a:bodyPr wrap="square" rtlCol="0" anchor="ctr"/>
          <a:lstStyle/>
          <a:p>
            <a:pPr marL="0" indent="0">
              <a:buNone/>
            </a:pPr>
            <a:endParaRPr lang="en-US" dirty="0"/>
          </a:p>
        </p:txBody>
      </p:sp>
      <p:sp>
        <p:nvSpPr>
          <p:cNvPr id="13" name="Text 11"/>
          <p:cNvSpPr/>
          <p:nvPr/>
        </p:nvSpPr>
        <p:spPr>
          <a:xfrm>
            <a:off x="745019" y="2220798"/>
            <a:ext cx="1036219" cy="142875"/>
          </a:xfrm>
          <a:prstGeom prst="rect">
            <a:avLst/>
          </a:prstGeom>
          <a:noFill/>
          <a:ln/>
        </p:spPr>
        <p:txBody>
          <a:bodyPr wrap="square" lIns="0" tIns="0" rIns="0" bIns="0" rtlCol="0" anchor="t"/>
          <a:lstStyle/>
          <a:p>
            <a:pPr marL="0" indent="0" algn="ctr">
              <a:buNone/>
            </a:pPr>
            <a:r>
              <a:rPr lang="en-US" sz="1000" b="1" dirty="0">
                <a:solidFill>
                  <a:srgbClr val="FFFFFF"/>
                </a:solidFill>
                <a:latin typeface="Arial" pitchFamily="34" charset="0"/>
                <a:ea typeface="Arial" pitchFamily="34" charset="-122"/>
                <a:cs typeface="Arial" pitchFamily="34" charset="-120"/>
              </a:rPr>
              <a:t>Dev Agent</a:t>
            </a:r>
            <a:endParaRPr lang="en-US" sz="1000" dirty="0"/>
          </a:p>
        </p:txBody>
      </p:sp>
      <p:sp>
        <p:nvSpPr>
          <p:cNvPr id="14" name="Text 12"/>
          <p:cNvSpPr/>
          <p:nvPr/>
        </p:nvSpPr>
        <p:spPr>
          <a:xfrm>
            <a:off x="1974229" y="2187460"/>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2228278" y="2112897"/>
            <a:ext cx="1688902" cy="358676"/>
          </a:xfrm>
          <a:prstGeom prst="rect">
            <a:avLst/>
          </a:prstGeom>
          <a:noFill/>
          <a:ln w="19050">
            <a:solidFill>
              <a:srgbClr val="292929"/>
            </a:solidFill>
          </a:ln>
        </p:spPr>
        <p:txBody>
          <a:bodyPr wrap="square" rtlCol="0" anchor="ctr"/>
          <a:lstStyle/>
          <a:p>
            <a:pPr marL="0" indent="0">
              <a:buNone/>
            </a:pPr>
            <a:endParaRPr lang="en-US" dirty="0"/>
          </a:p>
        </p:txBody>
      </p:sp>
      <p:sp>
        <p:nvSpPr>
          <p:cNvPr id="16" name="Text 14"/>
          <p:cNvSpPr/>
          <p:nvPr/>
        </p:nvSpPr>
        <p:spPr>
          <a:xfrm>
            <a:off x="2360310" y="2220798"/>
            <a:ext cx="1424839" cy="142875"/>
          </a:xfrm>
          <a:prstGeom prst="rect">
            <a:avLst/>
          </a:prstGeom>
          <a:noFill/>
          <a:ln/>
        </p:spPr>
        <p:txBody>
          <a:bodyPr wrap="square" lIns="0" tIns="0" rIns="0" bIns="0" rtlCol="0" anchor="t"/>
          <a:lstStyle/>
          <a:p>
            <a:pPr marL="0" indent="0" algn="ctr">
              <a:buNone/>
            </a:pPr>
            <a:r>
              <a:rPr lang="en-US" sz="1000" dirty="0">
                <a:solidFill>
                  <a:srgbClr val="292929"/>
                </a:solidFill>
                <a:latin typeface="Arial" pitchFamily="34" charset="0"/>
                <a:ea typeface="Arial" pitchFamily="34" charset="-122"/>
                <a:cs typeface="Arial" pitchFamily="34" charset="-120"/>
              </a:rPr>
              <a:t>Feasibility + Design</a:t>
            </a:r>
            <a:endParaRPr lang="en-US" sz="1000" dirty="0"/>
          </a:p>
        </p:txBody>
      </p:sp>
      <p:sp>
        <p:nvSpPr>
          <p:cNvPr id="17" name="Text 15"/>
          <p:cNvSpPr/>
          <p:nvPr/>
        </p:nvSpPr>
        <p:spPr>
          <a:xfrm>
            <a:off x="3993380" y="2187460"/>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18" name="Text 16"/>
          <p:cNvSpPr/>
          <p:nvPr/>
        </p:nvSpPr>
        <p:spPr>
          <a:xfrm>
            <a:off x="4247430" y="2112897"/>
            <a:ext cx="1307902" cy="358676"/>
          </a:xfrm>
          <a:prstGeom prst="rect">
            <a:avLst/>
          </a:prstGeom>
          <a:noFill/>
          <a:ln w="19050">
            <a:solidFill>
              <a:srgbClr val="E33737"/>
            </a:solidFill>
          </a:ln>
        </p:spPr>
        <p:txBody>
          <a:bodyPr wrap="square" rtlCol="0" anchor="ctr"/>
          <a:lstStyle/>
          <a:p>
            <a:pPr marL="0" indent="0">
              <a:buNone/>
            </a:pPr>
            <a:endParaRPr lang="en-US" dirty="0"/>
          </a:p>
        </p:txBody>
      </p:sp>
      <p:sp>
        <p:nvSpPr>
          <p:cNvPr id="19" name="Text 17"/>
          <p:cNvSpPr/>
          <p:nvPr/>
        </p:nvSpPr>
        <p:spPr>
          <a:xfrm>
            <a:off x="4383271" y="2220798"/>
            <a:ext cx="1036219" cy="142875"/>
          </a:xfrm>
          <a:prstGeom prst="rect">
            <a:avLst/>
          </a:prstGeom>
          <a:noFill/>
          <a:ln/>
        </p:spPr>
        <p:txBody>
          <a:bodyPr wrap="square" lIns="0" tIns="0" rIns="0" bIns="0" rtlCol="0" anchor="t"/>
          <a:lstStyle/>
          <a:p>
            <a:pPr marL="0" indent="0" algn="ctr">
              <a:buNone/>
            </a:pPr>
            <a:r>
              <a:rPr lang="en-US" sz="1000" b="1" dirty="0">
                <a:solidFill>
                  <a:srgbClr val="E33737"/>
                </a:solidFill>
                <a:latin typeface="Arial" pitchFamily="34" charset="0"/>
                <a:ea typeface="Arial" pitchFamily="34" charset="-122"/>
                <a:cs typeface="Arial" pitchFamily="34" charset="-120"/>
              </a:rPr>
              <a:t>Review Loop</a:t>
            </a:r>
            <a:endParaRPr lang="en-US" sz="1000" dirty="0"/>
          </a:p>
        </p:txBody>
      </p:sp>
      <p:sp>
        <p:nvSpPr>
          <p:cNvPr id="20" name="Text 18"/>
          <p:cNvSpPr/>
          <p:nvPr/>
        </p:nvSpPr>
        <p:spPr>
          <a:xfrm>
            <a:off x="5631531" y="2187460"/>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21" name="Text 19"/>
          <p:cNvSpPr/>
          <p:nvPr/>
        </p:nvSpPr>
        <p:spPr>
          <a:xfrm>
            <a:off x="5885581" y="2131947"/>
            <a:ext cx="799951" cy="320576"/>
          </a:xfrm>
          <a:prstGeom prst="rect">
            <a:avLst/>
          </a:prstGeom>
          <a:solidFill>
            <a:srgbClr val="292929"/>
          </a:solidFill>
          <a:ln/>
        </p:spPr>
        <p:txBody>
          <a:bodyPr wrap="square" rtlCol="0" anchor="ctr"/>
          <a:lstStyle/>
          <a:p>
            <a:pPr marL="0" indent="0">
              <a:buNone/>
            </a:pPr>
            <a:endParaRPr lang="en-US" dirty="0"/>
          </a:p>
        </p:txBody>
      </p:sp>
      <p:sp>
        <p:nvSpPr>
          <p:cNvPr id="22" name="Shape 20"/>
          <p:cNvSpPr/>
          <p:nvPr/>
        </p:nvSpPr>
        <p:spPr>
          <a:xfrm>
            <a:off x="5904631" y="2131947"/>
            <a:ext cx="0" cy="320576"/>
          </a:xfrm>
          <a:prstGeom prst="line">
            <a:avLst/>
          </a:prstGeom>
          <a:noFill/>
          <a:ln w="38100">
            <a:solidFill>
              <a:srgbClr val="E33737"/>
            </a:solidFill>
            <a:prstDash val="solid"/>
          </a:ln>
        </p:spPr>
        <p:txBody>
          <a:bodyPr/>
          <a:lstStyle/>
          <a:p>
            <a:endParaRPr lang="en-NL"/>
          </a:p>
        </p:txBody>
      </p:sp>
      <p:sp>
        <p:nvSpPr>
          <p:cNvPr id="23" name="Text 21"/>
          <p:cNvSpPr/>
          <p:nvPr/>
        </p:nvSpPr>
        <p:spPr>
          <a:xfrm>
            <a:off x="6045552" y="2220798"/>
            <a:ext cx="518109" cy="142875"/>
          </a:xfrm>
          <a:prstGeom prst="rect">
            <a:avLst/>
          </a:prstGeom>
          <a:noFill/>
          <a:ln/>
        </p:spPr>
        <p:txBody>
          <a:bodyPr wrap="square" lIns="0" tIns="0" rIns="0" bIns="0" rtlCol="0" anchor="t"/>
          <a:lstStyle/>
          <a:p>
            <a:pPr marL="0" indent="0" algn="ctr">
              <a:buNone/>
            </a:pPr>
            <a:r>
              <a:rPr lang="en-US" sz="1000" b="1" dirty="0">
                <a:solidFill>
                  <a:srgbClr val="FFFFFF"/>
                </a:solidFill>
                <a:latin typeface="Arial" pitchFamily="34" charset="0"/>
                <a:ea typeface="Arial" pitchFamily="34" charset="-122"/>
                <a:cs typeface="Arial" pitchFamily="34" charset="-120"/>
              </a:rPr>
              <a:t>PR</a:t>
            </a:r>
            <a:endParaRPr lang="en-US" sz="1000" dirty="0"/>
          </a:p>
        </p:txBody>
      </p:sp>
      <p:sp>
        <p:nvSpPr>
          <p:cNvPr id="24" name="Text 22"/>
          <p:cNvSpPr/>
          <p:nvPr/>
        </p:nvSpPr>
        <p:spPr>
          <a:xfrm>
            <a:off x="6761732" y="2187460"/>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25" name="Text 23"/>
          <p:cNvSpPr/>
          <p:nvPr/>
        </p:nvSpPr>
        <p:spPr>
          <a:xfrm>
            <a:off x="7015782" y="2062147"/>
            <a:ext cx="1523851" cy="460177"/>
          </a:xfrm>
          <a:prstGeom prst="rect">
            <a:avLst/>
          </a:prstGeom>
          <a:solidFill>
            <a:srgbClr val="E33737"/>
          </a:solidFill>
          <a:ln/>
        </p:spPr>
        <p:txBody>
          <a:bodyPr wrap="square" rtlCol="0" anchor="ctr"/>
          <a:lstStyle/>
          <a:p>
            <a:pPr marL="0" indent="0">
              <a:buNone/>
            </a:pPr>
            <a:endParaRPr lang="en-US" dirty="0"/>
          </a:p>
        </p:txBody>
      </p:sp>
      <p:sp>
        <p:nvSpPr>
          <p:cNvPr id="26" name="Text 24"/>
          <p:cNvSpPr/>
          <p:nvPr/>
        </p:nvSpPr>
        <p:spPr>
          <a:xfrm>
            <a:off x="7130032" y="2150997"/>
            <a:ext cx="1295349" cy="142875"/>
          </a:xfrm>
          <a:prstGeom prst="rect">
            <a:avLst/>
          </a:prstGeom>
          <a:noFill/>
          <a:ln/>
        </p:spPr>
        <p:txBody>
          <a:bodyPr wrap="square" lIns="0" tIns="0" rIns="0" bIns="0" rtlCol="0" anchor="t"/>
          <a:lstStyle/>
          <a:p>
            <a:pPr marL="0" indent="0" algn="ctr">
              <a:buNone/>
            </a:pPr>
            <a:r>
              <a:rPr lang="en-US" sz="1000" b="1" dirty="0">
                <a:solidFill>
                  <a:srgbClr val="FFFFFF"/>
                </a:solidFill>
                <a:latin typeface="Arial" pitchFamily="34" charset="0"/>
                <a:ea typeface="Arial" pitchFamily="34" charset="-122"/>
                <a:cs typeface="Arial" pitchFamily="34" charset="-120"/>
              </a:rPr>
              <a:t>Human Reviews</a:t>
            </a:r>
            <a:endParaRPr lang="en-US" sz="1000" dirty="0"/>
          </a:p>
        </p:txBody>
      </p:sp>
      <p:sp>
        <p:nvSpPr>
          <p:cNvPr id="27" name="Text 25"/>
          <p:cNvSpPr/>
          <p:nvPr/>
        </p:nvSpPr>
        <p:spPr>
          <a:xfrm>
            <a:off x="7130032" y="2319173"/>
            <a:ext cx="1295349" cy="114300"/>
          </a:xfrm>
          <a:prstGeom prst="rect">
            <a:avLst/>
          </a:prstGeom>
          <a:noFill/>
          <a:ln/>
        </p:spPr>
        <p:txBody>
          <a:bodyPr wrap="square" lIns="0" tIns="0" rIns="0" bIns="0" rtlCol="0" anchor="t"/>
          <a:lstStyle/>
          <a:p>
            <a:pPr marL="0" indent="0" algn="ctr">
              <a:spcBef>
                <a:spcPts val="200"/>
              </a:spcBef>
              <a:buNone/>
            </a:pPr>
            <a:r>
              <a:rPr lang="en-US" sz="800" dirty="0">
                <a:solidFill>
                  <a:srgbClr val="FFFFFF"/>
                </a:solidFill>
                <a:latin typeface="Arial" pitchFamily="34" charset="0"/>
                <a:ea typeface="Arial" pitchFamily="34" charset="-122"/>
                <a:cs typeface="Arial" pitchFamily="34" charset="-120"/>
              </a:rPr>
              <a:t>in GitHub</a:t>
            </a:r>
            <a:endParaRPr lang="en-US" sz="800" dirty="0"/>
          </a:p>
        </p:txBody>
      </p:sp>
      <p:sp>
        <p:nvSpPr>
          <p:cNvPr id="28" name="Text 26"/>
          <p:cNvSpPr/>
          <p:nvPr/>
        </p:nvSpPr>
        <p:spPr>
          <a:xfrm>
            <a:off x="4533031" y="2585724"/>
            <a:ext cx="103683" cy="238125"/>
          </a:xfrm>
          <a:prstGeom prst="rect">
            <a:avLst/>
          </a:prstGeom>
          <a:noFill/>
          <a:ln/>
        </p:spPr>
        <p:txBody>
          <a:bodyPr wrap="square" lIns="0" tIns="0" rIns="0" bIns="0" rtlCol="0" anchor="t"/>
          <a:lstStyle/>
          <a:p>
            <a:pPr marL="0" indent="0" algn="l">
              <a:spcBef>
                <a:spcPts val="100"/>
              </a:spcBef>
              <a:spcAft>
                <a:spcPts val="100"/>
              </a:spcAft>
              <a:buNone/>
            </a:pPr>
            <a:r>
              <a:rPr lang="en-US" sz="1600" dirty="0">
                <a:solidFill>
                  <a:srgbClr val="292929"/>
                </a:solidFill>
                <a:latin typeface="Arial" pitchFamily="34" charset="0"/>
                <a:ea typeface="Arial" pitchFamily="34" charset="-122"/>
                <a:cs typeface="Arial" pitchFamily="34" charset="-120"/>
              </a:rPr>
              <a:t>↓</a:t>
            </a:r>
            <a:endParaRPr lang="en-US" sz="1600" dirty="0"/>
          </a:p>
        </p:txBody>
      </p:sp>
      <p:sp>
        <p:nvSpPr>
          <p:cNvPr id="29" name="Text 27"/>
          <p:cNvSpPr/>
          <p:nvPr/>
        </p:nvSpPr>
        <p:spPr>
          <a:xfrm>
            <a:off x="501128" y="2906300"/>
            <a:ext cx="1269802" cy="320576"/>
          </a:xfrm>
          <a:prstGeom prst="rect">
            <a:avLst/>
          </a:prstGeom>
          <a:solidFill>
            <a:srgbClr val="292929"/>
          </a:solidFill>
          <a:ln/>
        </p:spPr>
        <p:txBody>
          <a:bodyPr wrap="square" rtlCol="0" anchor="ctr"/>
          <a:lstStyle/>
          <a:p>
            <a:pPr marL="0" indent="0">
              <a:buNone/>
            </a:pPr>
            <a:endParaRPr lang="en-US" dirty="0"/>
          </a:p>
        </p:txBody>
      </p:sp>
      <p:sp>
        <p:nvSpPr>
          <p:cNvPr id="30" name="Text 28"/>
          <p:cNvSpPr/>
          <p:nvPr/>
        </p:nvSpPr>
        <p:spPr>
          <a:xfrm>
            <a:off x="617919" y="2995150"/>
            <a:ext cx="1036219" cy="142875"/>
          </a:xfrm>
          <a:prstGeom prst="rect">
            <a:avLst/>
          </a:prstGeom>
          <a:noFill/>
          <a:ln/>
        </p:spPr>
        <p:txBody>
          <a:bodyPr wrap="square" lIns="0" tIns="0" rIns="0" bIns="0" rtlCol="0" anchor="t"/>
          <a:lstStyle/>
          <a:p>
            <a:pPr marL="0" indent="0" algn="ctr">
              <a:buNone/>
            </a:pPr>
            <a:r>
              <a:rPr lang="en-US" sz="1000" b="1" dirty="0">
                <a:solidFill>
                  <a:srgbClr val="FFFFFF"/>
                </a:solidFill>
                <a:latin typeface="Arial" pitchFamily="34" charset="0"/>
                <a:ea typeface="Arial" pitchFamily="34" charset="-122"/>
                <a:cs typeface="Arial" pitchFamily="34" charset="-120"/>
              </a:rPr>
              <a:t>Dev Agent</a:t>
            </a:r>
            <a:endParaRPr lang="en-US" sz="1000" dirty="0"/>
          </a:p>
        </p:txBody>
      </p:sp>
      <p:sp>
        <p:nvSpPr>
          <p:cNvPr id="31" name="Text 29"/>
          <p:cNvSpPr/>
          <p:nvPr/>
        </p:nvSpPr>
        <p:spPr>
          <a:xfrm>
            <a:off x="1847130" y="2961813"/>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32" name="Text 30"/>
          <p:cNvSpPr/>
          <p:nvPr/>
        </p:nvSpPr>
        <p:spPr>
          <a:xfrm>
            <a:off x="2101179" y="2887250"/>
            <a:ext cx="1688902" cy="358676"/>
          </a:xfrm>
          <a:prstGeom prst="rect">
            <a:avLst/>
          </a:prstGeom>
          <a:noFill/>
          <a:ln w="19050">
            <a:solidFill>
              <a:srgbClr val="292929"/>
            </a:solidFill>
          </a:ln>
        </p:spPr>
        <p:txBody>
          <a:bodyPr wrap="square" rtlCol="0" anchor="ctr"/>
          <a:lstStyle/>
          <a:p>
            <a:pPr marL="0" indent="0">
              <a:buNone/>
            </a:pPr>
            <a:endParaRPr lang="en-US" dirty="0"/>
          </a:p>
        </p:txBody>
      </p:sp>
      <p:sp>
        <p:nvSpPr>
          <p:cNvPr id="33" name="Text 31"/>
          <p:cNvSpPr/>
          <p:nvPr/>
        </p:nvSpPr>
        <p:spPr>
          <a:xfrm>
            <a:off x="2233211" y="2995150"/>
            <a:ext cx="1424839" cy="142875"/>
          </a:xfrm>
          <a:prstGeom prst="rect">
            <a:avLst/>
          </a:prstGeom>
          <a:noFill/>
          <a:ln/>
        </p:spPr>
        <p:txBody>
          <a:bodyPr wrap="square" lIns="0" tIns="0" rIns="0" bIns="0" rtlCol="0" anchor="t"/>
          <a:lstStyle/>
          <a:p>
            <a:pPr marL="0" indent="0" algn="ctr">
              <a:buNone/>
            </a:pPr>
            <a:r>
              <a:rPr lang="en-US" sz="1000" dirty="0">
                <a:solidFill>
                  <a:srgbClr val="292929"/>
                </a:solidFill>
                <a:latin typeface="Arial" pitchFamily="34" charset="0"/>
                <a:ea typeface="Arial" pitchFamily="34" charset="-122"/>
                <a:cs typeface="Arial" pitchFamily="34" charset="-120"/>
              </a:rPr>
              <a:t>TDD Implementation</a:t>
            </a:r>
            <a:endParaRPr lang="en-US" sz="1000" dirty="0"/>
          </a:p>
        </p:txBody>
      </p:sp>
      <p:sp>
        <p:nvSpPr>
          <p:cNvPr id="34" name="Text 32"/>
          <p:cNvSpPr/>
          <p:nvPr/>
        </p:nvSpPr>
        <p:spPr>
          <a:xfrm>
            <a:off x="3866281" y="2961813"/>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4120330" y="2887250"/>
            <a:ext cx="1307902" cy="358676"/>
          </a:xfrm>
          <a:prstGeom prst="rect">
            <a:avLst/>
          </a:prstGeom>
          <a:noFill/>
          <a:ln w="19050">
            <a:solidFill>
              <a:srgbClr val="E33737"/>
            </a:solidFill>
          </a:ln>
        </p:spPr>
        <p:txBody>
          <a:bodyPr wrap="square" rtlCol="0" anchor="ctr"/>
          <a:lstStyle/>
          <a:p>
            <a:pPr marL="0" indent="0">
              <a:buNone/>
            </a:pPr>
            <a:endParaRPr lang="en-US" dirty="0"/>
          </a:p>
        </p:txBody>
      </p:sp>
      <p:sp>
        <p:nvSpPr>
          <p:cNvPr id="36" name="Text 34"/>
          <p:cNvSpPr/>
          <p:nvPr/>
        </p:nvSpPr>
        <p:spPr>
          <a:xfrm>
            <a:off x="4256172" y="2995150"/>
            <a:ext cx="1036219" cy="142875"/>
          </a:xfrm>
          <a:prstGeom prst="rect">
            <a:avLst/>
          </a:prstGeom>
          <a:noFill/>
          <a:ln/>
        </p:spPr>
        <p:txBody>
          <a:bodyPr wrap="square" lIns="0" tIns="0" rIns="0" bIns="0" rtlCol="0" anchor="t"/>
          <a:lstStyle/>
          <a:p>
            <a:pPr marL="0" indent="0" algn="ctr">
              <a:buNone/>
            </a:pPr>
            <a:r>
              <a:rPr lang="en-US" sz="1000" b="1" dirty="0">
                <a:solidFill>
                  <a:srgbClr val="E33737"/>
                </a:solidFill>
                <a:latin typeface="Arial" pitchFamily="34" charset="0"/>
                <a:ea typeface="Arial" pitchFamily="34" charset="-122"/>
                <a:cs typeface="Arial" pitchFamily="34" charset="-120"/>
              </a:rPr>
              <a:t>Review Loop</a:t>
            </a:r>
            <a:endParaRPr lang="en-US" sz="1000" dirty="0"/>
          </a:p>
        </p:txBody>
      </p:sp>
      <p:sp>
        <p:nvSpPr>
          <p:cNvPr id="37" name="Text 35"/>
          <p:cNvSpPr/>
          <p:nvPr/>
        </p:nvSpPr>
        <p:spPr>
          <a:xfrm>
            <a:off x="5504432" y="2961813"/>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38" name="Text 36"/>
          <p:cNvSpPr/>
          <p:nvPr/>
        </p:nvSpPr>
        <p:spPr>
          <a:xfrm>
            <a:off x="5758482" y="2906300"/>
            <a:ext cx="1054001" cy="320576"/>
          </a:xfrm>
          <a:prstGeom prst="rect">
            <a:avLst/>
          </a:prstGeom>
          <a:solidFill>
            <a:srgbClr val="292929"/>
          </a:solidFill>
          <a:ln/>
        </p:spPr>
        <p:txBody>
          <a:bodyPr wrap="square" rtlCol="0" anchor="ctr"/>
          <a:lstStyle/>
          <a:p>
            <a:pPr marL="0" indent="0">
              <a:buNone/>
            </a:pPr>
            <a:endParaRPr lang="en-US" dirty="0"/>
          </a:p>
        </p:txBody>
      </p:sp>
      <p:sp>
        <p:nvSpPr>
          <p:cNvPr id="39" name="Shape 37"/>
          <p:cNvSpPr/>
          <p:nvPr/>
        </p:nvSpPr>
        <p:spPr>
          <a:xfrm>
            <a:off x="5777532" y="2906300"/>
            <a:ext cx="0" cy="320576"/>
          </a:xfrm>
          <a:prstGeom prst="line">
            <a:avLst/>
          </a:prstGeom>
          <a:noFill/>
          <a:ln w="38100">
            <a:solidFill>
              <a:srgbClr val="E33737"/>
            </a:solidFill>
            <a:prstDash val="solid"/>
          </a:ln>
        </p:spPr>
        <p:txBody>
          <a:bodyPr/>
          <a:lstStyle/>
          <a:p>
            <a:endParaRPr lang="en-NL"/>
          </a:p>
        </p:txBody>
      </p:sp>
      <p:sp>
        <p:nvSpPr>
          <p:cNvPr id="40" name="Text 38"/>
          <p:cNvSpPr/>
          <p:nvPr/>
        </p:nvSpPr>
        <p:spPr>
          <a:xfrm>
            <a:off x="5915912" y="2995150"/>
            <a:ext cx="777240" cy="142875"/>
          </a:xfrm>
          <a:prstGeom prst="rect">
            <a:avLst/>
          </a:prstGeom>
          <a:noFill/>
          <a:ln/>
        </p:spPr>
        <p:txBody>
          <a:bodyPr wrap="square" lIns="0" tIns="0" rIns="0" bIns="0" rtlCol="0" anchor="t"/>
          <a:lstStyle/>
          <a:p>
            <a:pPr marL="0" indent="0" algn="ctr">
              <a:buNone/>
            </a:pPr>
            <a:r>
              <a:rPr lang="en-US" sz="1000" b="1" dirty="0">
                <a:solidFill>
                  <a:srgbClr val="FFFFFF"/>
                </a:solidFill>
                <a:latin typeface="Arial" pitchFamily="34" charset="0"/>
                <a:ea typeface="Arial" pitchFamily="34" charset="-122"/>
                <a:cs typeface="Arial" pitchFamily="34" charset="-120"/>
              </a:rPr>
              <a:t>Push to PR</a:t>
            </a:r>
            <a:endParaRPr lang="en-US" sz="1000" dirty="0"/>
          </a:p>
        </p:txBody>
      </p:sp>
      <p:sp>
        <p:nvSpPr>
          <p:cNvPr id="41" name="Text 39"/>
          <p:cNvSpPr/>
          <p:nvPr/>
        </p:nvSpPr>
        <p:spPr>
          <a:xfrm>
            <a:off x="6888682" y="2961813"/>
            <a:ext cx="181407" cy="209550"/>
          </a:xfrm>
          <a:prstGeom prst="rect">
            <a:avLst/>
          </a:prstGeom>
          <a:noFill/>
          <a:ln/>
        </p:spPr>
        <p:txBody>
          <a:bodyPr wrap="square" lIns="0" tIns="0" rIns="0" bIns="0" rtlCol="0" anchor="t"/>
          <a:lstStyle/>
          <a:p>
            <a:pPr marL="0" indent="0" algn="l">
              <a:buNone/>
            </a:pPr>
            <a:r>
              <a:rPr lang="en-US" sz="1400" dirty="0">
                <a:solidFill>
                  <a:srgbClr val="292929"/>
                </a:solidFill>
                <a:latin typeface="Arial" pitchFamily="34" charset="0"/>
                <a:ea typeface="Arial" pitchFamily="34" charset="-122"/>
                <a:cs typeface="Arial" pitchFamily="34" charset="-120"/>
              </a:rPr>
              <a:t>→</a:t>
            </a:r>
            <a:endParaRPr lang="en-US" sz="1400" dirty="0"/>
          </a:p>
        </p:txBody>
      </p:sp>
      <p:sp>
        <p:nvSpPr>
          <p:cNvPr id="42" name="Text 40"/>
          <p:cNvSpPr/>
          <p:nvPr/>
        </p:nvSpPr>
        <p:spPr>
          <a:xfrm>
            <a:off x="7142732" y="2836499"/>
            <a:ext cx="1523851" cy="460177"/>
          </a:xfrm>
          <a:prstGeom prst="rect">
            <a:avLst/>
          </a:prstGeom>
          <a:solidFill>
            <a:srgbClr val="E33737"/>
          </a:solidFill>
          <a:ln/>
        </p:spPr>
        <p:txBody>
          <a:bodyPr wrap="square" rtlCol="0" anchor="ctr"/>
          <a:lstStyle/>
          <a:p>
            <a:pPr marL="0" indent="0">
              <a:buNone/>
            </a:pPr>
            <a:endParaRPr lang="en-US" dirty="0"/>
          </a:p>
        </p:txBody>
      </p:sp>
      <p:sp>
        <p:nvSpPr>
          <p:cNvPr id="43" name="Text 41"/>
          <p:cNvSpPr/>
          <p:nvPr/>
        </p:nvSpPr>
        <p:spPr>
          <a:xfrm>
            <a:off x="7256983" y="2925350"/>
            <a:ext cx="1295349" cy="142875"/>
          </a:xfrm>
          <a:prstGeom prst="rect">
            <a:avLst/>
          </a:prstGeom>
          <a:noFill/>
          <a:ln/>
        </p:spPr>
        <p:txBody>
          <a:bodyPr wrap="square" lIns="0" tIns="0" rIns="0" bIns="0" rtlCol="0" anchor="t"/>
          <a:lstStyle/>
          <a:p>
            <a:pPr marL="0" indent="0" algn="ctr">
              <a:buNone/>
            </a:pPr>
            <a:r>
              <a:rPr lang="en-US" sz="1000" b="1" dirty="0">
                <a:solidFill>
                  <a:srgbClr val="FFFFFF"/>
                </a:solidFill>
                <a:latin typeface="Arial" pitchFamily="34" charset="0"/>
                <a:ea typeface="Arial" pitchFamily="34" charset="-122"/>
                <a:cs typeface="Arial" pitchFamily="34" charset="-120"/>
              </a:rPr>
              <a:t>Human Reviews</a:t>
            </a:r>
            <a:endParaRPr lang="en-US" sz="1000" dirty="0"/>
          </a:p>
        </p:txBody>
      </p:sp>
      <p:sp>
        <p:nvSpPr>
          <p:cNvPr id="44" name="Text 42"/>
          <p:cNvSpPr/>
          <p:nvPr/>
        </p:nvSpPr>
        <p:spPr>
          <a:xfrm>
            <a:off x="7256983" y="3093526"/>
            <a:ext cx="1295349" cy="114300"/>
          </a:xfrm>
          <a:prstGeom prst="rect">
            <a:avLst/>
          </a:prstGeom>
          <a:noFill/>
          <a:ln/>
        </p:spPr>
        <p:txBody>
          <a:bodyPr wrap="square" lIns="0" tIns="0" rIns="0" bIns="0" rtlCol="0" anchor="t"/>
          <a:lstStyle/>
          <a:p>
            <a:pPr marL="0" indent="0" algn="ctr">
              <a:spcBef>
                <a:spcPts val="200"/>
              </a:spcBef>
              <a:buNone/>
            </a:pPr>
            <a:r>
              <a:rPr lang="en-US" sz="800" dirty="0">
                <a:solidFill>
                  <a:srgbClr val="FFFFFF"/>
                </a:solidFill>
                <a:latin typeface="Arial" pitchFamily="34" charset="0"/>
                <a:ea typeface="Arial" pitchFamily="34" charset="-122"/>
                <a:cs typeface="Arial" pitchFamily="34" charset="-120"/>
              </a:rPr>
              <a:t>in GitHub</a:t>
            </a:r>
            <a:endParaRPr lang="en-US" sz="800" dirty="0"/>
          </a:p>
        </p:txBody>
      </p:sp>
      <p:sp>
        <p:nvSpPr>
          <p:cNvPr id="45" name="Text 43"/>
          <p:cNvSpPr/>
          <p:nvPr/>
        </p:nvSpPr>
        <p:spPr>
          <a:xfrm>
            <a:off x="634901" y="4737199"/>
            <a:ext cx="8031682" cy="152400"/>
          </a:xfrm>
          <a:prstGeom prst="rect">
            <a:avLst/>
          </a:prstGeom>
          <a:noFill/>
          <a:ln/>
        </p:spPr>
        <p:txBody>
          <a:bodyPr wrap="square" lIns="0" tIns="0" rIns="0" bIns="0" rtlCol="0" anchor="t"/>
          <a:lstStyle/>
          <a:p>
            <a:pPr marL="0" indent="0" algn="l">
              <a:buNone/>
            </a:pPr>
            <a:r>
              <a:rPr lang="en-US" sz="1100" i="1" dirty="0">
                <a:solidFill>
                  <a:srgbClr val="888888"/>
                </a:solidFill>
                <a:latin typeface="Arial" pitchFamily="34" charset="0"/>
                <a:ea typeface="Arial" pitchFamily="34" charset="-122"/>
                <a:cs typeface="Arial" pitchFamily="34" charset="-120"/>
              </a:rPr>
              <a:t>For the demo: review loops removed for speed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457200"/>
            <a:ext cx="8031682" cy="409575"/>
          </a:xfrm>
          <a:prstGeom prst="rect">
            <a:avLst/>
          </a:prstGeom>
          <a:noFill/>
          <a:ln/>
        </p:spPr>
        <p:txBody>
          <a:bodyPr wrap="square" lIns="0" tIns="0" rIns="0" bIns="0" rtlCol="0" anchor="t"/>
          <a:lstStyle/>
          <a:p>
            <a:pPr marL="0" indent="0" algn="l">
              <a:spcBef>
                <a:spcPts val="3600"/>
              </a:spcBef>
              <a:spcAft>
                <a:spcPts val="2000"/>
              </a:spcAft>
              <a:buNone/>
            </a:pPr>
            <a:r>
              <a:rPr lang="en-US" sz="2800" b="1" dirty="0">
                <a:solidFill>
                  <a:srgbClr val="292929"/>
                </a:solidFill>
                <a:latin typeface="Arial" pitchFamily="34" charset="0"/>
                <a:ea typeface="Arial" pitchFamily="34" charset="-122"/>
                <a:cs typeface="Arial" pitchFamily="34" charset="-120"/>
              </a:rPr>
              <a:t>RESULTS — HONEST ASSESSMENT</a:t>
            </a:r>
            <a:endParaRPr lang="en-US" sz="2800" dirty="0"/>
          </a:p>
        </p:txBody>
      </p:sp>
      <p:sp>
        <p:nvSpPr>
          <p:cNvPr id="3" name="Shape 1"/>
          <p:cNvSpPr/>
          <p:nvPr/>
        </p:nvSpPr>
        <p:spPr>
          <a:xfrm>
            <a:off x="634901" y="1230213"/>
            <a:ext cx="3555950" cy="0"/>
          </a:xfrm>
          <a:prstGeom prst="line">
            <a:avLst/>
          </a:prstGeom>
          <a:noFill/>
          <a:ln w="47625">
            <a:solidFill>
              <a:srgbClr val="E33737"/>
            </a:solidFill>
            <a:prstDash val="solid"/>
          </a:ln>
        </p:spPr>
        <p:txBody>
          <a:bodyPr/>
          <a:lstStyle/>
          <a:p>
            <a:endParaRPr lang="en-NL"/>
          </a:p>
        </p:txBody>
      </p:sp>
      <p:sp>
        <p:nvSpPr>
          <p:cNvPr id="4" name="Text 2"/>
          <p:cNvSpPr/>
          <p:nvPr/>
        </p:nvSpPr>
        <p:spPr>
          <a:xfrm>
            <a:off x="634901" y="1406426"/>
            <a:ext cx="3627069" cy="152400"/>
          </a:xfrm>
          <a:prstGeom prst="rect">
            <a:avLst/>
          </a:prstGeom>
          <a:noFill/>
          <a:ln/>
        </p:spPr>
        <p:txBody>
          <a:bodyPr wrap="square" lIns="0" tIns="0" rIns="0" bIns="0" rtlCol="0" anchor="t"/>
          <a:lstStyle/>
          <a:p>
            <a:pPr marL="0" indent="0" algn="l">
              <a:spcAft>
                <a:spcPts val="1000"/>
              </a:spcAft>
              <a:buNone/>
            </a:pPr>
            <a:r>
              <a:rPr lang="en-US" sz="1100" b="1" dirty="0">
                <a:solidFill>
                  <a:srgbClr val="E33737"/>
                </a:solidFill>
                <a:latin typeface="Arial" pitchFamily="34" charset="0"/>
                <a:ea typeface="Arial" pitchFamily="34" charset="-122"/>
                <a:cs typeface="Arial" pitchFamily="34" charset="-120"/>
              </a:rPr>
              <a:t>RESULTS</a:t>
            </a:r>
            <a:endParaRPr lang="en-US" sz="1100" dirty="0"/>
          </a:p>
        </p:txBody>
      </p:sp>
      <p:sp>
        <p:nvSpPr>
          <p:cNvPr id="5" name="Shape 3"/>
          <p:cNvSpPr/>
          <p:nvPr/>
        </p:nvSpPr>
        <p:spPr>
          <a:xfrm>
            <a:off x="658713" y="1812727"/>
            <a:ext cx="0" cy="663476"/>
          </a:xfrm>
          <a:prstGeom prst="line">
            <a:avLst/>
          </a:prstGeom>
          <a:noFill/>
          <a:ln w="47625">
            <a:solidFill>
              <a:srgbClr val="E33737"/>
            </a:solidFill>
            <a:prstDash val="solid"/>
          </a:ln>
        </p:spPr>
        <p:txBody>
          <a:bodyPr/>
          <a:lstStyle/>
          <a:p>
            <a:endParaRPr lang="en-NL"/>
          </a:p>
        </p:txBody>
      </p:sp>
      <p:sp>
        <p:nvSpPr>
          <p:cNvPr id="6" name="Text 4"/>
          <p:cNvSpPr/>
          <p:nvPr/>
        </p:nvSpPr>
        <p:spPr>
          <a:xfrm>
            <a:off x="860227" y="1812727"/>
            <a:ext cx="3397237" cy="295275"/>
          </a:xfrm>
          <a:prstGeom prst="rect">
            <a:avLst/>
          </a:prstGeom>
          <a:noFill/>
          <a:ln/>
        </p:spPr>
        <p:txBody>
          <a:bodyPr wrap="square" lIns="0" tIns="0" rIns="0" bIns="0" rtlCol="0" anchor="t"/>
          <a:lstStyle/>
          <a:p>
            <a:pPr marL="0" indent="0" algn="l">
              <a:buNone/>
            </a:pPr>
            <a:r>
              <a:rPr lang="en-US" sz="2000" b="1" dirty="0">
                <a:solidFill>
                  <a:srgbClr val="E33737"/>
                </a:solidFill>
                <a:latin typeface="Arial" pitchFamily="34" charset="0"/>
                <a:ea typeface="Arial" pitchFamily="34" charset="-122"/>
                <a:cs typeface="Arial" pitchFamily="34" charset="-120"/>
              </a:rPr>
              <a:t>10-20x</a:t>
            </a:r>
            <a:endParaRPr lang="en-US" sz="2000" dirty="0"/>
          </a:p>
        </p:txBody>
      </p:sp>
      <p:sp>
        <p:nvSpPr>
          <p:cNvPr id="7" name="Text 5"/>
          <p:cNvSpPr/>
          <p:nvPr/>
        </p:nvSpPr>
        <p:spPr>
          <a:xfrm>
            <a:off x="860227" y="2133302"/>
            <a:ext cx="3397237" cy="342900"/>
          </a:xfrm>
          <a:prstGeom prst="rect">
            <a:avLst/>
          </a:prstGeom>
          <a:noFill/>
          <a:ln/>
        </p:spPr>
        <p:txBody>
          <a:bodyPr wrap="square" lIns="0" tIns="0" rIns="0" bIns="0" rtlCol="0" anchor="t"/>
          <a:lstStyle/>
          <a:p>
            <a:pPr marL="0" indent="0" algn="l">
              <a:spcBef>
                <a:spcPts val="200"/>
              </a:spcBef>
              <a:buNone/>
            </a:pPr>
            <a:r>
              <a:rPr lang="en-US" sz="1200" dirty="0">
                <a:solidFill>
                  <a:srgbClr val="666666"/>
                </a:solidFill>
                <a:latin typeface="Arial" pitchFamily="34" charset="0"/>
                <a:ea typeface="Arial" pitchFamily="34" charset="-122"/>
                <a:cs typeface="Arial" pitchFamily="34" charset="-120"/>
              </a:rPr>
              <a:t>productivity improvement (Salesforce dev context)</a:t>
            </a:r>
            <a:endParaRPr lang="en-US" sz="1200" dirty="0"/>
          </a:p>
        </p:txBody>
      </p:sp>
      <p:sp>
        <p:nvSpPr>
          <p:cNvPr id="8" name="Shape 6"/>
          <p:cNvSpPr/>
          <p:nvPr/>
        </p:nvSpPr>
        <p:spPr>
          <a:xfrm>
            <a:off x="658713" y="2628602"/>
            <a:ext cx="0" cy="406301"/>
          </a:xfrm>
          <a:prstGeom prst="line">
            <a:avLst/>
          </a:prstGeom>
          <a:noFill/>
          <a:ln w="47625">
            <a:solidFill>
              <a:srgbClr val="E33737"/>
            </a:solidFill>
            <a:prstDash val="solid"/>
          </a:ln>
        </p:spPr>
        <p:txBody>
          <a:bodyPr/>
          <a:lstStyle/>
          <a:p>
            <a:endParaRPr lang="en-NL"/>
          </a:p>
        </p:txBody>
      </p:sp>
      <p:sp>
        <p:nvSpPr>
          <p:cNvPr id="9" name="Text 7"/>
          <p:cNvSpPr/>
          <p:nvPr/>
        </p:nvSpPr>
        <p:spPr>
          <a:xfrm>
            <a:off x="860227" y="2628602"/>
            <a:ext cx="3397237" cy="209550"/>
          </a:xfrm>
          <a:prstGeom prst="rect">
            <a:avLst/>
          </a:prstGeom>
          <a:noFill/>
          <a:ln/>
        </p:spPr>
        <p:txBody>
          <a:bodyPr wrap="square" lIns="0" tIns="0" rIns="0" bIns="0" rtlCol="0" anchor="t"/>
          <a:lstStyle/>
          <a:p>
            <a:pPr marL="0" indent="0" algn="l">
              <a:buNone/>
            </a:pPr>
            <a:r>
              <a:rPr lang="en-US" sz="1400" b="1" dirty="0">
                <a:solidFill>
                  <a:srgbClr val="292929"/>
                </a:solidFill>
                <a:latin typeface="Arial" pitchFamily="34" charset="0"/>
                <a:ea typeface="Arial" pitchFamily="34" charset="-122"/>
                <a:cs typeface="Arial" pitchFamily="34" charset="-120"/>
              </a:rPr>
              <a:t>Higher code quality</a:t>
            </a:r>
            <a:endParaRPr lang="en-US" sz="1400" dirty="0"/>
          </a:p>
        </p:txBody>
      </p:sp>
      <p:sp>
        <p:nvSpPr>
          <p:cNvPr id="10" name="Text 8"/>
          <p:cNvSpPr/>
          <p:nvPr/>
        </p:nvSpPr>
        <p:spPr>
          <a:xfrm>
            <a:off x="860227" y="2863453"/>
            <a:ext cx="3397237" cy="171450"/>
          </a:xfrm>
          <a:prstGeom prst="rect">
            <a:avLst/>
          </a:prstGeom>
          <a:noFill/>
          <a:ln/>
        </p:spPr>
        <p:txBody>
          <a:bodyPr wrap="square" lIns="0" tIns="0" rIns="0" bIns="0" rtlCol="0" anchor="t"/>
          <a:lstStyle/>
          <a:p>
            <a:pPr marL="0" indent="0" algn="l">
              <a:spcBef>
                <a:spcPts val="200"/>
              </a:spcBef>
              <a:buNone/>
            </a:pPr>
            <a:r>
              <a:rPr lang="en-US" sz="1200" dirty="0">
                <a:solidFill>
                  <a:srgbClr val="666666"/>
                </a:solidFill>
                <a:latin typeface="Arial" pitchFamily="34" charset="0"/>
                <a:ea typeface="Arial" pitchFamily="34" charset="-122"/>
                <a:cs typeface="Arial" pitchFamily="34" charset="-120"/>
              </a:rPr>
              <a:t>than manual coding</a:t>
            </a:r>
            <a:endParaRPr lang="en-US" sz="1200" dirty="0"/>
          </a:p>
        </p:txBody>
      </p:sp>
      <p:sp>
        <p:nvSpPr>
          <p:cNvPr id="11" name="Text 9"/>
          <p:cNvSpPr/>
          <p:nvPr/>
        </p:nvSpPr>
        <p:spPr>
          <a:xfrm>
            <a:off x="812602" y="3187303"/>
            <a:ext cx="3445815" cy="152400"/>
          </a:xfrm>
          <a:prstGeom prst="rect">
            <a:avLst/>
          </a:prstGeom>
          <a:noFill/>
          <a:ln/>
        </p:spPr>
        <p:txBody>
          <a:bodyPr wrap="square" lIns="0" tIns="0" rIns="0" bIns="0" rtlCol="0" anchor="t"/>
          <a:lstStyle/>
          <a:p>
            <a:pPr marL="0" indent="0" algn="l">
              <a:buNone/>
            </a:pPr>
            <a:r>
              <a:rPr lang="en-US" sz="1100" i="1" dirty="0">
                <a:solidFill>
                  <a:srgbClr val="888888"/>
                </a:solidFill>
                <a:latin typeface="Arial" pitchFamily="34" charset="0"/>
                <a:ea typeface="Arial" pitchFamily="34" charset="-122"/>
                <a:cs typeface="Arial" pitchFamily="34" charset="-120"/>
              </a:rPr>
              <a:t>Different domain, but the principles transfer.</a:t>
            </a:r>
            <a:endParaRPr lang="en-US" sz="1100" dirty="0"/>
          </a:p>
        </p:txBody>
      </p:sp>
      <p:sp>
        <p:nvSpPr>
          <p:cNvPr id="12" name="Shape 10"/>
          <p:cNvSpPr/>
          <p:nvPr/>
        </p:nvSpPr>
        <p:spPr>
          <a:xfrm>
            <a:off x="4953149" y="1230213"/>
            <a:ext cx="3555950" cy="0"/>
          </a:xfrm>
          <a:prstGeom prst="line">
            <a:avLst/>
          </a:prstGeom>
          <a:noFill/>
          <a:ln w="47625">
            <a:solidFill>
              <a:srgbClr val="CCCBCB"/>
            </a:solidFill>
            <a:prstDash val="solid"/>
          </a:ln>
        </p:spPr>
        <p:txBody>
          <a:bodyPr/>
          <a:lstStyle/>
          <a:p>
            <a:endParaRPr lang="en-NL"/>
          </a:p>
        </p:txBody>
      </p:sp>
      <p:sp>
        <p:nvSpPr>
          <p:cNvPr id="13" name="Text 11"/>
          <p:cNvSpPr/>
          <p:nvPr/>
        </p:nvSpPr>
        <p:spPr>
          <a:xfrm>
            <a:off x="4953149" y="1406426"/>
            <a:ext cx="3627069" cy="152400"/>
          </a:xfrm>
          <a:prstGeom prst="rect">
            <a:avLst/>
          </a:prstGeom>
          <a:noFill/>
          <a:ln/>
        </p:spPr>
        <p:txBody>
          <a:bodyPr wrap="square" lIns="0" tIns="0" rIns="0" bIns="0" rtlCol="0" anchor="t"/>
          <a:lstStyle/>
          <a:p>
            <a:pPr marL="0" indent="0" algn="l">
              <a:spcAft>
                <a:spcPts val="1000"/>
              </a:spcAft>
              <a:buNone/>
            </a:pPr>
            <a:r>
              <a:rPr lang="en-US" sz="1100" b="1" dirty="0">
                <a:solidFill>
                  <a:srgbClr val="666666"/>
                </a:solidFill>
                <a:latin typeface="Arial" pitchFamily="34" charset="0"/>
                <a:ea typeface="Arial" pitchFamily="34" charset="-122"/>
                <a:cs typeface="Arial" pitchFamily="34" charset="-120"/>
              </a:rPr>
              <a:t>CAVEATS</a:t>
            </a:r>
            <a:endParaRPr lang="en-US" sz="1100" dirty="0"/>
          </a:p>
        </p:txBody>
      </p:sp>
      <p:sp>
        <p:nvSpPr>
          <p:cNvPr id="14" name="Shape 12"/>
          <p:cNvSpPr/>
          <p:nvPr/>
        </p:nvSpPr>
        <p:spPr>
          <a:xfrm>
            <a:off x="4976961" y="1812727"/>
            <a:ext cx="0" cy="377726"/>
          </a:xfrm>
          <a:prstGeom prst="line">
            <a:avLst/>
          </a:prstGeom>
          <a:noFill/>
          <a:ln w="47625">
            <a:solidFill>
              <a:srgbClr val="CCCBCB"/>
            </a:solidFill>
            <a:prstDash val="solid"/>
          </a:ln>
        </p:spPr>
        <p:txBody>
          <a:bodyPr/>
          <a:lstStyle/>
          <a:p>
            <a:endParaRPr lang="en-NL"/>
          </a:p>
        </p:txBody>
      </p:sp>
      <p:sp>
        <p:nvSpPr>
          <p:cNvPr id="15" name="Text 13"/>
          <p:cNvSpPr/>
          <p:nvPr/>
        </p:nvSpPr>
        <p:spPr>
          <a:xfrm>
            <a:off x="5178475" y="1812727"/>
            <a:ext cx="3397237" cy="200025"/>
          </a:xfrm>
          <a:prstGeom prst="rect">
            <a:avLst/>
          </a:prstGeom>
          <a:noFill/>
          <a:ln/>
        </p:spPr>
        <p:txBody>
          <a:bodyPr wrap="square" lIns="0" tIns="0" rIns="0" bIns="0" rtlCol="0" anchor="t"/>
          <a:lstStyle/>
          <a:p>
            <a:pPr marL="0" indent="0" algn="l">
              <a:buNone/>
            </a:pPr>
            <a:r>
              <a:rPr lang="en-US" sz="1300" b="1" dirty="0">
                <a:solidFill>
                  <a:srgbClr val="292929"/>
                </a:solidFill>
                <a:latin typeface="Arial" pitchFamily="34" charset="0"/>
                <a:ea typeface="Arial" pitchFamily="34" charset="-122"/>
                <a:cs typeface="Arial" pitchFamily="34" charset="-120"/>
              </a:rPr>
              <a:t>Invest ~10% of project time</a:t>
            </a:r>
            <a:endParaRPr lang="en-US" sz="1300" dirty="0"/>
          </a:p>
        </p:txBody>
      </p:sp>
      <p:sp>
        <p:nvSpPr>
          <p:cNvPr id="16" name="Text 14"/>
          <p:cNvSpPr/>
          <p:nvPr/>
        </p:nvSpPr>
        <p:spPr>
          <a:xfrm>
            <a:off x="5178475" y="2038052"/>
            <a:ext cx="3397237" cy="152400"/>
          </a:xfrm>
          <a:prstGeom prst="rect">
            <a:avLst/>
          </a:prstGeom>
          <a:noFill/>
          <a:ln/>
        </p:spPr>
        <p:txBody>
          <a:bodyPr wrap="square" lIns="0" tIns="0" rIns="0" bIns="0" rtlCol="0" anchor="t"/>
          <a:lstStyle/>
          <a:p>
            <a:pPr marL="0" indent="0" algn="l">
              <a:spcBef>
                <a:spcPts val="200"/>
              </a:spcBef>
              <a:buNone/>
            </a:pPr>
            <a:r>
              <a:rPr lang="en-US" sz="1100" dirty="0">
                <a:solidFill>
                  <a:srgbClr val="666666"/>
                </a:solidFill>
                <a:latin typeface="Arial" pitchFamily="34" charset="0"/>
                <a:ea typeface="Arial" pitchFamily="34" charset="-122"/>
                <a:cs typeface="Arial" pitchFamily="34" charset="-120"/>
              </a:rPr>
              <a:t>improving your AI tooling</a:t>
            </a:r>
            <a:endParaRPr lang="en-US" sz="1100" dirty="0"/>
          </a:p>
        </p:txBody>
      </p:sp>
      <p:sp>
        <p:nvSpPr>
          <p:cNvPr id="17" name="Shape 15"/>
          <p:cNvSpPr/>
          <p:nvPr/>
        </p:nvSpPr>
        <p:spPr>
          <a:xfrm>
            <a:off x="4976961" y="2317403"/>
            <a:ext cx="0" cy="377726"/>
          </a:xfrm>
          <a:prstGeom prst="line">
            <a:avLst/>
          </a:prstGeom>
          <a:noFill/>
          <a:ln w="47625">
            <a:solidFill>
              <a:srgbClr val="CCCBCB"/>
            </a:solidFill>
            <a:prstDash val="solid"/>
          </a:ln>
        </p:spPr>
        <p:txBody>
          <a:bodyPr/>
          <a:lstStyle/>
          <a:p>
            <a:endParaRPr lang="en-NL"/>
          </a:p>
        </p:txBody>
      </p:sp>
      <p:sp>
        <p:nvSpPr>
          <p:cNvPr id="18" name="Text 16"/>
          <p:cNvSpPr/>
          <p:nvPr/>
        </p:nvSpPr>
        <p:spPr>
          <a:xfrm>
            <a:off x="5178475" y="2317403"/>
            <a:ext cx="3397237" cy="200025"/>
          </a:xfrm>
          <a:prstGeom prst="rect">
            <a:avLst/>
          </a:prstGeom>
          <a:noFill/>
          <a:ln/>
        </p:spPr>
        <p:txBody>
          <a:bodyPr wrap="square" lIns="0" tIns="0" rIns="0" bIns="0" rtlCol="0" anchor="t"/>
          <a:lstStyle/>
          <a:p>
            <a:pPr marL="0" indent="0" algn="l">
              <a:buNone/>
            </a:pPr>
            <a:r>
              <a:rPr lang="en-US" sz="1300" b="1" dirty="0">
                <a:solidFill>
                  <a:srgbClr val="292929"/>
                </a:solidFill>
                <a:latin typeface="Arial" pitchFamily="34" charset="0"/>
                <a:ea typeface="Arial" pitchFamily="34" charset="-122"/>
                <a:cs typeface="Arial" pitchFamily="34" charset="-120"/>
              </a:rPr>
              <a:t>Task expansion</a:t>
            </a:r>
            <a:endParaRPr lang="en-US" sz="1300" dirty="0"/>
          </a:p>
        </p:txBody>
      </p:sp>
      <p:sp>
        <p:nvSpPr>
          <p:cNvPr id="19" name="Text 17"/>
          <p:cNvSpPr/>
          <p:nvPr/>
        </p:nvSpPr>
        <p:spPr>
          <a:xfrm>
            <a:off x="5178475" y="2542729"/>
            <a:ext cx="3397237" cy="152400"/>
          </a:xfrm>
          <a:prstGeom prst="rect">
            <a:avLst/>
          </a:prstGeom>
          <a:noFill/>
          <a:ln/>
        </p:spPr>
        <p:txBody>
          <a:bodyPr wrap="square" lIns="0" tIns="0" rIns="0" bIns="0" rtlCol="0" anchor="t"/>
          <a:lstStyle/>
          <a:p>
            <a:pPr marL="0" indent="0" algn="l">
              <a:spcBef>
                <a:spcPts val="200"/>
              </a:spcBef>
              <a:buNone/>
            </a:pPr>
            <a:r>
              <a:rPr lang="en-US" sz="1100" dirty="0">
                <a:solidFill>
                  <a:srgbClr val="666666"/>
                </a:solidFill>
                <a:latin typeface="Arial" pitchFamily="34" charset="0"/>
                <a:ea typeface="Arial" pitchFamily="34" charset="-122"/>
                <a:cs typeface="Arial" pitchFamily="34" charset="-120"/>
              </a:rPr>
              <a:t>you absorb work you used to delegate</a:t>
            </a:r>
            <a:endParaRPr lang="en-US" sz="1100" dirty="0"/>
          </a:p>
        </p:txBody>
      </p:sp>
      <p:sp>
        <p:nvSpPr>
          <p:cNvPr id="20" name="Shape 18"/>
          <p:cNvSpPr/>
          <p:nvPr/>
        </p:nvSpPr>
        <p:spPr>
          <a:xfrm>
            <a:off x="4976961" y="2822079"/>
            <a:ext cx="0" cy="377726"/>
          </a:xfrm>
          <a:prstGeom prst="line">
            <a:avLst/>
          </a:prstGeom>
          <a:noFill/>
          <a:ln w="47625">
            <a:solidFill>
              <a:srgbClr val="CCCBCB"/>
            </a:solidFill>
            <a:prstDash val="solid"/>
          </a:ln>
        </p:spPr>
        <p:txBody>
          <a:bodyPr/>
          <a:lstStyle/>
          <a:p>
            <a:endParaRPr lang="en-NL"/>
          </a:p>
        </p:txBody>
      </p:sp>
      <p:sp>
        <p:nvSpPr>
          <p:cNvPr id="21" name="Text 19"/>
          <p:cNvSpPr/>
          <p:nvPr/>
        </p:nvSpPr>
        <p:spPr>
          <a:xfrm>
            <a:off x="5178475" y="2822079"/>
            <a:ext cx="3397237" cy="200025"/>
          </a:xfrm>
          <a:prstGeom prst="rect">
            <a:avLst/>
          </a:prstGeom>
          <a:noFill/>
          <a:ln/>
        </p:spPr>
        <p:txBody>
          <a:bodyPr wrap="square" lIns="0" tIns="0" rIns="0" bIns="0" rtlCol="0" anchor="t"/>
          <a:lstStyle/>
          <a:p>
            <a:pPr marL="0" indent="0" algn="l">
              <a:buNone/>
            </a:pPr>
            <a:r>
              <a:rPr lang="en-US" sz="1300" b="1" dirty="0">
                <a:solidFill>
                  <a:srgbClr val="292929"/>
                </a:solidFill>
                <a:latin typeface="Arial" pitchFamily="34" charset="0"/>
                <a:ea typeface="Arial" pitchFamily="34" charset="-122"/>
                <a:cs typeface="Arial" pitchFamily="34" charset="-120"/>
              </a:rPr>
              <a:t>Cognitive overload</a:t>
            </a:r>
            <a:endParaRPr lang="en-US" sz="1300" dirty="0"/>
          </a:p>
        </p:txBody>
      </p:sp>
      <p:sp>
        <p:nvSpPr>
          <p:cNvPr id="22" name="Text 20"/>
          <p:cNvSpPr/>
          <p:nvPr/>
        </p:nvSpPr>
        <p:spPr>
          <a:xfrm>
            <a:off x="5178475" y="3047405"/>
            <a:ext cx="3397237" cy="152400"/>
          </a:xfrm>
          <a:prstGeom prst="rect">
            <a:avLst/>
          </a:prstGeom>
          <a:noFill/>
          <a:ln/>
        </p:spPr>
        <p:txBody>
          <a:bodyPr wrap="square" lIns="0" tIns="0" rIns="0" bIns="0" rtlCol="0" anchor="t"/>
          <a:lstStyle/>
          <a:p>
            <a:pPr marL="0" indent="0" algn="l">
              <a:spcBef>
                <a:spcPts val="200"/>
              </a:spcBef>
              <a:buNone/>
            </a:pPr>
            <a:r>
              <a:rPr lang="en-US" sz="1100" dirty="0">
                <a:solidFill>
                  <a:srgbClr val="666666"/>
                </a:solidFill>
                <a:latin typeface="Arial" pitchFamily="34" charset="0"/>
                <a:ea typeface="Arial" pitchFamily="34" charset="-122"/>
                <a:cs typeface="Arial" pitchFamily="34" charset="-120"/>
              </a:rPr>
              <a:t>Build intentional pauses. Protect focus time.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4901" y="457200"/>
            <a:ext cx="8031682" cy="409575"/>
          </a:xfrm>
          <a:prstGeom prst="rect">
            <a:avLst/>
          </a:prstGeom>
          <a:noFill/>
          <a:ln/>
        </p:spPr>
        <p:txBody>
          <a:bodyPr wrap="square" lIns="0" tIns="0" rIns="0" bIns="0" rtlCol="0" anchor="t"/>
          <a:lstStyle/>
          <a:p>
            <a:pPr marL="0" indent="0" algn="l">
              <a:spcBef>
                <a:spcPts val="3600"/>
              </a:spcBef>
              <a:spcAft>
                <a:spcPts val="2000"/>
              </a:spcAft>
              <a:buNone/>
            </a:pPr>
            <a:r>
              <a:rPr lang="en-US" sz="2800" b="1" dirty="0">
                <a:solidFill>
                  <a:srgbClr val="292929"/>
                </a:solidFill>
                <a:latin typeface="Arial" pitchFamily="34" charset="0"/>
                <a:ea typeface="Arial" pitchFamily="34" charset="-122"/>
                <a:cs typeface="Arial" pitchFamily="34" charset="-120"/>
              </a:rPr>
              <a:t>HOW YOU START TOMORROW</a:t>
            </a:r>
            <a:endParaRPr lang="en-US" sz="2800" dirty="0"/>
          </a:p>
        </p:txBody>
      </p:sp>
      <p:sp>
        <p:nvSpPr>
          <p:cNvPr id="3" name="Text 1"/>
          <p:cNvSpPr/>
          <p:nvPr/>
        </p:nvSpPr>
        <p:spPr>
          <a:xfrm>
            <a:off x="634901" y="1206401"/>
            <a:ext cx="355550" cy="355550"/>
          </a:xfrm>
          <a:prstGeom prst="rect">
            <a:avLst/>
          </a:prstGeom>
          <a:solidFill>
            <a:srgbClr val="E33737"/>
          </a:solidFill>
          <a:ln/>
        </p:spPr>
        <p:txBody>
          <a:bodyPr wrap="square" rtlCol="0" anchor="ctr"/>
          <a:lstStyle/>
          <a:p>
            <a:pPr marL="0" indent="0">
              <a:buNone/>
            </a:pPr>
            <a:endParaRPr lang="en-US" dirty="0"/>
          </a:p>
        </p:txBody>
      </p:sp>
      <p:sp>
        <p:nvSpPr>
          <p:cNvPr id="4" name="Text 2"/>
          <p:cNvSpPr/>
          <p:nvPr/>
        </p:nvSpPr>
        <p:spPr>
          <a:xfrm>
            <a:off x="763191" y="1279327"/>
            <a:ext cx="100950" cy="209550"/>
          </a:xfrm>
          <a:prstGeom prst="rect">
            <a:avLst/>
          </a:prstGeom>
          <a:noFill/>
          <a:ln/>
        </p:spPr>
        <p:txBody>
          <a:bodyPr wrap="square" lIns="0" tIns="0" rIns="0" bIns="0" rtlCol="0" anchor="t"/>
          <a:lstStyle/>
          <a:p>
            <a:pPr marL="0" indent="0" algn="l">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1168152" y="1257151"/>
            <a:ext cx="1582260" cy="209550"/>
          </a:xfrm>
          <a:prstGeom prst="rect">
            <a:avLst/>
          </a:prstGeom>
          <a:noFill/>
          <a:ln/>
        </p:spPr>
        <p:txBody>
          <a:bodyPr wrap="square" lIns="0" tIns="0" rIns="0" bIns="0" rtlCol="0" anchor="t"/>
          <a:lstStyle/>
          <a:p>
            <a:pPr marL="0" indent="0" algn="l">
              <a:spcBef>
                <a:spcPts val="400"/>
              </a:spcBef>
              <a:buNone/>
            </a:pPr>
            <a:r>
              <a:rPr lang="en-US" sz="1400" dirty="0">
                <a:solidFill>
                  <a:srgbClr val="292929"/>
                </a:solidFill>
                <a:latin typeface="Arial" pitchFamily="34" charset="0"/>
                <a:ea typeface="Arial" pitchFamily="34" charset="-122"/>
                <a:cs typeface="Arial" pitchFamily="34" charset="-120"/>
              </a:rPr>
              <a:t>Install Claude Code</a:t>
            </a:r>
            <a:endParaRPr lang="en-US" sz="1400" dirty="0"/>
          </a:p>
        </p:txBody>
      </p:sp>
      <p:sp>
        <p:nvSpPr>
          <p:cNvPr id="6" name="Text 4"/>
          <p:cNvSpPr/>
          <p:nvPr/>
        </p:nvSpPr>
        <p:spPr>
          <a:xfrm>
            <a:off x="634901" y="1714351"/>
            <a:ext cx="355550" cy="355550"/>
          </a:xfrm>
          <a:prstGeom prst="rect">
            <a:avLst/>
          </a:prstGeom>
          <a:solidFill>
            <a:srgbClr val="E33737"/>
          </a:solidFill>
          <a:ln/>
        </p:spPr>
        <p:txBody>
          <a:bodyPr wrap="square" rtlCol="0" anchor="ctr"/>
          <a:lstStyle/>
          <a:p>
            <a:pPr marL="0" indent="0">
              <a:buNone/>
            </a:pPr>
            <a:endParaRPr lang="en-US" dirty="0"/>
          </a:p>
        </p:txBody>
      </p:sp>
      <p:sp>
        <p:nvSpPr>
          <p:cNvPr id="7" name="Text 5"/>
          <p:cNvSpPr/>
          <p:nvPr/>
        </p:nvSpPr>
        <p:spPr>
          <a:xfrm>
            <a:off x="763191" y="1787277"/>
            <a:ext cx="100950" cy="209550"/>
          </a:xfrm>
          <a:prstGeom prst="rect">
            <a:avLst/>
          </a:prstGeom>
          <a:noFill/>
          <a:ln/>
        </p:spPr>
        <p:txBody>
          <a:bodyPr wrap="square" lIns="0" tIns="0" rIns="0" bIns="0" rtlCol="0" anchor="t"/>
          <a:lstStyle/>
          <a:p>
            <a:pPr marL="0" indent="0" algn="l">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8" name="Text 6"/>
          <p:cNvSpPr/>
          <p:nvPr/>
        </p:nvSpPr>
        <p:spPr>
          <a:xfrm>
            <a:off x="1168152" y="1765102"/>
            <a:ext cx="6499518" cy="209550"/>
          </a:xfrm>
          <a:prstGeom prst="rect">
            <a:avLst/>
          </a:prstGeom>
          <a:noFill/>
          <a:ln/>
        </p:spPr>
        <p:txBody>
          <a:bodyPr wrap="square" lIns="0" tIns="0" rIns="0" bIns="0" rtlCol="0" anchor="t"/>
          <a:lstStyle/>
          <a:p>
            <a:pPr marL="0" indent="0" algn="l">
              <a:spcBef>
                <a:spcPts val="400"/>
              </a:spcBef>
              <a:buNone/>
            </a:pPr>
            <a:r>
              <a:rPr lang="en-US" sz="1400" dirty="0">
                <a:solidFill>
                  <a:srgbClr val="292929"/>
                </a:solidFill>
                <a:latin typeface="Arial" pitchFamily="34" charset="0"/>
                <a:ea typeface="Arial" pitchFamily="34" charset="-122"/>
                <a:cs typeface="Arial" pitchFamily="34" charset="-120"/>
              </a:rPr>
              <a:t>CLAUDE.md is ready — your Python workflow, quality gates, and the full pipeline</a:t>
            </a:r>
            <a:endParaRPr lang="en-US" sz="1400" dirty="0"/>
          </a:p>
        </p:txBody>
      </p:sp>
      <p:sp>
        <p:nvSpPr>
          <p:cNvPr id="9" name="Text 7"/>
          <p:cNvSpPr/>
          <p:nvPr/>
        </p:nvSpPr>
        <p:spPr>
          <a:xfrm>
            <a:off x="634901" y="2222302"/>
            <a:ext cx="355550" cy="355550"/>
          </a:xfrm>
          <a:prstGeom prst="rect">
            <a:avLst/>
          </a:prstGeom>
          <a:solidFill>
            <a:srgbClr val="E33737"/>
          </a:solidFill>
          <a:ln/>
        </p:spPr>
        <p:txBody>
          <a:bodyPr wrap="square" rtlCol="0" anchor="ctr"/>
          <a:lstStyle/>
          <a:p>
            <a:pPr marL="0" indent="0">
              <a:buNone/>
            </a:pPr>
            <a:endParaRPr lang="en-US" dirty="0"/>
          </a:p>
        </p:txBody>
      </p:sp>
      <p:sp>
        <p:nvSpPr>
          <p:cNvPr id="10" name="Text 8"/>
          <p:cNvSpPr/>
          <p:nvPr/>
        </p:nvSpPr>
        <p:spPr>
          <a:xfrm>
            <a:off x="763191" y="2295227"/>
            <a:ext cx="100950" cy="209550"/>
          </a:xfrm>
          <a:prstGeom prst="rect">
            <a:avLst/>
          </a:prstGeom>
          <a:noFill/>
          <a:ln/>
        </p:spPr>
        <p:txBody>
          <a:bodyPr wrap="square" lIns="0" tIns="0" rIns="0" bIns="0" rtlCol="0" anchor="t"/>
          <a:lstStyle/>
          <a:p>
            <a:pPr marL="0" indent="0" algn="l">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1" name="Text 9"/>
          <p:cNvSpPr/>
          <p:nvPr/>
        </p:nvSpPr>
        <p:spPr>
          <a:xfrm>
            <a:off x="1168152" y="2273052"/>
            <a:ext cx="6182853" cy="209550"/>
          </a:xfrm>
          <a:prstGeom prst="rect">
            <a:avLst/>
          </a:prstGeom>
          <a:noFill/>
          <a:ln/>
        </p:spPr>
        <p:txBody>
          <a:bodyPr wrap="square" lIns="0" tIns="0" rIns="0" bIns="0" rtlCol="0" anchor="t"/>
          <a:lstStyle/>
          <a:p>
            <a:pPr marL="0" indent="0" algn="l">
              <a:spcBef>
                <a:spcPts val="400"/>
              </a:spcBef>
              <a:buNone/>
            </a:pPr>
            <a:r>
              <a:rPr lang="en-US" sz="1400" dirty="0">
                <a:solidFill>
                  <a:srgbClr val="292929"/>
                </a:solidFill>
                <a:latin typeface="Arial" pitchFamily="34" charset="0"/>
                <a:ea typeface="Arial" pitchFamily="34" charset="-122"/>
                <a:cs typeface="Arial" pitchFamily="34" charset="-120"/>
              </a:rPr>
              <a:t>Agent definitions are ready — developer + business analyst, configured to go</a:t>
            </a:r>
            <a:endParaRPr lang="en-US" sz="1400" dirty="0"/>
          </a:p>
        </p:txBody>
      </p:sp>
      <p:sp>
        <p:nvSpPr>
          <p:cNvPr id="12" name="Text 10"/>
          <p:cNvSpPr/>
          <p:nvPr/>
        </p:nvSpPr>
        <p:spPr>
          <a:xfrm>
            <a:off x="634901" y="2730252"/>
            <a:ext cx="355550" cy="355550"/>
          </a:xfrm>
          <a:prstGeom prst="rect">
            <a:avLst/>
          </a:prstGeom>
          <a:solidFill>
            <a:srgbClr val="E33737"/>
          </a:solidFill>
          <a:ln/>
        </p:spPr>
        <p:txBody>
          <a:bodyPr wrap="square" rtlCol="0" anchor="ctr"/>
          <a:lstStyle/>
          <a:p>
            <a:pPr marL="0" indent="0">
              <a:buNone/>
            </a:pPr>
            <a:endParaRPr lang="en-US" dirty="0"/>
          </a:p>
        </p:txBody>
      </p:sp>
      <p:sp>
        <p:nvSpPr>
          <p:cNvPr id="13" name="Text 11"/>
          <p:cNvSpPr/>
          <p:nvPr/>
        </p:nvSpPr>
        <p:spPr>
          <a:xfrm>
            <a:off x="763191" y="2803178"/>
            <a:ext cx="100950" cy="209550"/>
          </a:xfrm>
          <a:prstGeom prst="rect">
            <a:avLst/>
          </a:prstGeom>
          <a:noFill/>
          <a:ln/>
        </p:spPr>
        <p:txBody>
          <a:bodyPr wrap="square" lIns="0" tIns="0" rIns="0" bIns="0" rtlCol="0" anchor="t"/>
          <a:lstStyle/>
          <a:p>
            <a:pPr marL="0" indent="0" algn="l">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4" name="Text 12"/>
          <p:cNvSpPr/>
          <p:nvPr/>
        </p:nvSpPr>
        <p:spPr>
          <a:xfrm>
            <a:off x="1168152" y="2781002"/>
            <a:ext cx="6811021" cy="209550"/>
          </a:xfrm>
          <a:prstGeom prst="rect">
            <a:avLst/>
          </a:prstGeom>
          <a:noFill/>
          <a:ln/>
        </p:spPr>
        <p:txBody>
          <a:bodyPr wrap="square" lIns="0" tIns="0" rIns="0" bIns="0" rtlCol="0" anchor="t"/>
          <a:lstStyle/>
          <a:p>
            <a:pPr marL="0" indent="0" algn="l">
              <a:spcBef>
                <a:spcPts val="400"/>
              </a:spcBef>
              <a:buNone/>
            </a:pPr>
            <a:r>
              <a:rPr lang="en-US" sz="1400" dirty="0">
                <a:solidFill>
                  <a:srgbClr val="292929"/>
                </a:solidFill>
                <a:latin typeface="Arial" pitchFamily="34" charset="0"/>
                <a:ea typeface="Arial" pitchFamily="34" charset="-122"/>
                <a:cs typeface="Arial" pitchFamily="34" charset="-120"/>
              </a:rPr>
              <a:t>Extract your first skill from your domain knowledge (e.g., Responsible AI frameworks)</a:t>
            </a:r>
            <a:endParaRPr lang="en-US" sz="1400" dirty="0"/>
          </a:p>
        </p:txBody>
      </p:sp>
      <p:sp>
        <p:nvSpPr>
          <p:cNvPr id="15" name="Text 13"/>
          <p:cNvSpPr/>
          <p:nvPr/>
        </p:nvSpPr>
        <p:spPr>
          <a:xfrm>
            <a:off x="634901" y="3238202"/>
            <a:ext cx="355550" cy="355550"/>
          </a:xfrm>
          <a:prstGeom prst="rect">
            <a:avLst/>
          </a:prstGeom>
          <a:solidFill>
            <a:srgbClr val="E33737"/>
          </a:solidFill>
          <a:ln/>
        </p:spPr>
        <p:txBody>
          <a:bodyPr wrap="square" rtlCol="0" anchor="ctr"/>
          <a:lstStyle/>
          <a:p>
            <a:pPr marL="0" indent="0">
              <a:buNone/>
            </a:pPr>
            <a:endParaRPr lang="en-US" dirty="0"/>
          </a:p>
        </p:txBody>
      </p:sp>
      <p:sp>
        <p:nvSpPr>
          <p:cNvPr id="16" name="Text 14"/>
          <p:cNvSpPr/>
          <p:nvPr/>
        </p:nvSpPr>
        <p:spPr>
          <a:xfrm>
            <a:off x="763191" y="3311128"/>
            <a:ext cx="100950" cy="209550"/>
          </a:xfrm>
          <a:prstGeom prst="rect">
            <a:avLst/>
          </a:prstGeom>
          <a:noFill/>
          <a:ln/>
        </p:spPr>
        <p:txBody>
          <a:bodyPr wrap="square" lIns="0" tIns="0" rIns="0" bIns="0" rtlCol="0" anchor="t"/>
          <a:lstStyle/>
          <a:p>
            <a:pPr marL="0" indent="0" algn="l">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7" name="Text 15"/>
          <p:cNvSpPr/>
          <p:nvPr/>
        </p:nvSpPr>
        <p:spPr>
          <a:xfrm>
            <a:off x="1168152" y="3288953"/>
            <a:ext cx="3870412" cy="209550"/>
          </a:xfrm>
          <a:prstGeom prst="rect">
            <a:avLst/>
          </a:prstGeom>
          <a:noFill/>
          <a:ln/>
        </p:spPr>
        <p:txBody>
          <a:bodyPr wrap="square" lIns="0" tIns="0" rIns="0" bIns="0" rtlCol="0" anchor="t"/>
          <a:lstStyle/>
          <a:p>
            <a:pPr marL="0" indent="0" algn="l">
              <a:spcBef>
                <a:spcPts val="400"/>
              </a:spcBef>
              <a:buNone/>
            </a:pPr>
            <a:r>
              <a:rPr lang="en-US" sz="1400" dirty="0">
                <a:solidFill>
                  <a:srgbClr val="292929"/>
                </a:solidFill>
                <a:latin typeface="Arial" pitchFamily="34" charset="0"/>
                <a:ea typeface="Arial" pitchFamily="34" charset="-122"/>
                <a:cs typeface="Arial" pitchFamily="34" charset="-120"/>
              </a:rPr>
              <a:t>Run one feature through the pipeline end-to-end</a:t>
            </a:r>
            <a:endParaRPr lang="en-US" sz="1400" dirty="0"/>
          </a:p>
        </p:txBody>
      </p:sp>
      <p:sp>
        <p:nvSpPr>
          <p:cNvPr id="18" name="Shape 16"/>
          <p:cNvSpPr/>
          <p:nvPr/>
        </p:nvSpPr>
        <p:spPr>
          <a:xfrm>
            <a:off x="634901" y="4299049"/>
            <a:ext cx="7874198" cy="0"/>
          </a:xfrm>
          <a:prstGeom prst="line">
            <a:avLst/>
          </a:prstGeom>
          <a:noFill/>
          <a:ln w="19050">
            <a:solidFill>
              <a:srgbClr val="E33737"/>
            </a:solidFill>
            <a:prstDash val="solid"/>
          </a:ln>
        </p:spPr>
        <p:txBody>
          <a:bodyPr/>
          <a:lstStyle/>
          <a:p>
            <a:endParaRPr lang="en-NL"/>
          </a:p>
        </p:txBody>
      </p:sp>
      <p:sp>
        <p:nvSpPr>
          <p:cNvPr id="19" name="Text 17"/>
          <p:cNvSpPr/>
          <p:nvPr/>
        </p:nvSpPr>
        <p:spPr>
          <a:xfrm>
            <a:off x="634901" y="4435525"/>
            <a:ext cx="8031682" cy="200025"/>
          </a:xfrm>
          <a:prstGeom prst="rect">
            <a:avLst/>
          </a:prstGeom>
          <a:noFill/>
          <a:ln/>
        </p:spPr>
        <p:txBody>
          <a:bodyPr wrap="square" lIns="0" tIns="0" rIns="0" bIns="0" rtlCol="0" anchor="t"/>
          <a:lstStyle/>
          <a:p>
            <a:pPr marL="0" indent="0" algn="l">
              <a:buNone/>
            </a:pPr>
            <a:r>
              <a:rPr lang="en-US" sz="1300" b="1" dirty="0">
                <a:solidFill>
                  <a:srgbClr val="292929"/>
                </a:solidFill>
                <a:latin typeface="Arial" pitchFamily="34" charset="0"/>
                <a:ea typeface="Arial" pitchFamily="34" charset="-122"/>
                <a:cs typeface="Arial" pitchFamily="34" charset="-120"/>
              </a:rPr>
              <a:t>Ladder of adoption, not a big bang.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92929"/>
        </a:solidFill>
        <a:effectLst/>
      </p:bgPr>
    </p:bg>
    <p:spTree>
      <p:nvGrpSpPr>
        <p:cNvPr id="1" name=""/>
        <p:cNvGrpSpPr/>
        <p:nvPr/>
      </p:nvGrpSpPr>
      <p:grpSpPr>
        <a:xfrm>
          <a:off x="0" y="0"/>
          <a:ext cx="0" cy="0"/>
          <a:chOff x="0" y="0"/>
          <a:chExt cx="0" cy="0"/>
        </a:xfrm>
      </p:grpSpPr>
      <p:sp>
        <p:nvSpPr>
          <p:cNvPr id="2" name="Text 0"/>
          <p:cNvSpPr/>
          <p:nvPr/>
        </p:nvSpPr>
        <p:spPr>
          <a:xfrm>
            <a:off x="762000" y="507950"/>
            <a:ext cx="7772400" cy="523875"/>
          </a:xfrm>
          <a:prstGeom prst="rect">
            <a:avLst/>
          </a:prstGeom>
          <a:noFill/>
          <a:ln/>
        </p:spPr>
        <p:txBody>
          <a:bodyPr wrap="square" lIns="0" tIns="0" rIns="0" bIns="0" rtlCol="0" anchor="t"/>
          <a:lstStyle/>
          <a:p>
            <a:pPr marL="0" indent="0" algn="l">
              <a:spcBef>
                <a:spcPts val="4000"/>
              </a:spcBef>
              <a:spcAft>
                <a:spcPts val="3000"/>
              </a:spcAft>
              <a:buNone/>
            </a:pPr>
            <a:r>
              <a:rPr lang="en-US" sz="3600" b="1" dirty="0">
                <a:solidFill>
                  <a:srgbClr val="FFFFFF"/>
                </a:solidFill>
                <a:latin typeface="Arial" pitchFamily="34" charset="0"/>
                <a:ea typeface="Arial" pitchFamily="34" charset="-122"/>
                <a:cs typeface="Arial" pitchFamily="34" charset="-120"/>
              </a:rPr>
              <a:t>KEY TAKEAWAYS</a:t>
            </a:r>
            <a:endParaRPr lang="en-US" sz="3600" dirty="0"/>
          </a:p>
        </p:txBody>
      </p:sp>
      <p:sp>
        <p:nvSpPr>
          <p:cNvPr id="3" name="Shape 1"/>
          <p:cNvSpPr/>
          <p:nvPr/>
        </p:nvSpPr>
        <p:spPr>
          <a:xfrm>
            <a:off x="785813" y="1396901"/>
            <a:ext cx="0" cy="304651"/>
          </a:xfrm>
          <a:prstGeom prst="line">
            <a:avLst/>
          </a:prstGeom>
          <a:noFill/>
          <a:ln w="47625">
            <a:solidFill>
              <a:srgbClr val="E33737"/>
            </a:solidFill>
            <a:prstDash val="solid"/>
          </a:ln>
        </p:spPr>
        <p:txBody>
          <a:bodyPr/>
          <a:lstStyle/>
          <a:p>
            <a:endParaRPr lang="en-NL"/>
          </a:p>
        </p:txBody>
      </p:sp>
      <p:sp>
        <p:nvSpPr>
          <p:cNvPr id="4" name="Text 2"/>
          <p:cNvSpPr/>
          <p:nvPr/>
        </p:nvSpPr>
        <p:spPr>
          <a:xfrm>
            <a:off x="1063526" y="1396901"/>
            <a:ext cx="7464844" cy="304651"/>
          </a:xfrm>
          <a:prstGeom prst="rect">
            <a:avLst/>
          </a:prstGeom>
          <a:noFill/>
          <a:ln/>
        </p:spPr>
        <p:txBody>
          <a:bodyPr wrap="square" lIns="0" tIns="0" rIns="0" bIns="0" rtlCol="0" anchor="t"/>
          <a:lstStyle/>
          <a:p>
            <a:pPr marL="0" indent="0" algn="l">
              <a:lnSpc>
                <a:spcPts val="2400"/>
              </a:lnSpc>
              <a:buNone/>
            </a:pPr>
            <a:r>
              <a:rPr lang="en-US" sz="1600" dirty="0">
                <a:solidFill>
                  <a:srgbClr val="FFFFFF"/>
                </a:solidFill>
                <a:latin typeface="Arial" pitchFamily="34" charset="0"/>
                <a:ea typeface="Arial" pitchFamily="34" charset="-122"/>
                <a:cs typeface="Arial" pitchFamily="34" charset="-120"/>
              </a:rPr>
              <a:t>Process beats prompting — encode your methodology, not your wishes</a:t>
            </a:r>
            <a:endParaRPr lang="en-US" sz="1600" dirty="0"/>
          </a:p>
        </p:txBody>
      </p:sp>
      <p:sp>
        <p:nvSpPr>
          <p:cNvPr id="5" name="Shape 3"/>
          <p:cNvSpPr/>
          <p:nvPr/>
        </p:nvSpPr>
        <p:spPr>
          <a:xfrm>
            <a:off x="785813" y="1955453"/>
            <a:ext cx="0" cy="304651"/>
          </a:xfrm>
          <a:prstGeom prst="line">
            <a:avLst/>
          </a:prstGeom>
          <a:noFill/>
          <a:ln w="47625">
            <a:solidFill>
              <a:srgbClr val="E33737"/>
            </a:solidFill>
            <a:prstDash val="solid"/>
          </a:ln>
        </p:spPr>
        <p:txBody>
          <a:bodyPr/>
          <a:lstStyle/>
          <a:p>
            <a:endParaRPr lang="en-NL"/>
          </a:p>
        </p:txBody>
      </p:sp>
      <p:sp>
        <p:nvSpPr>
          <p:cNvPr id="6" name="Text 4"/>
          <p:cNvSpPr/>
          <p:nvPr/>
        </p:nvSpPr>
        <p:spPr>
          <a:xfrm>
            <a:off x="1063526" y="1955453"/>
            <a:ext cx="7464844" cy="304651"/>
          </a:xfrm>
          <a:prstGeom prst="rect">
            <a:avLst/>
          </a:prstGeom>
          <a:noFill/>
          <a:ln/>
        </p:spPr>
        <p:txBody>
          <a:bodyPr wrap="square" lIns="0" tIns="0" rIns="0" bIns="0" rtlCol="0" anchor="t"/>
          <a:lstStyle/>
          <a:p>
            <a:pPr marL="0" indent="0" algn="l">
              <a:lnSpc>
                <a:spcPts val="2400"/>
              </a:lnSpc>
              <a:buNone/>
            </a:pPr>
            <a:r>
              <a:rPr lang="en-US" sz="1600" dirty="0">
                <a:solidFill>
                  <a:srgbClr val="FFFFFF"/>
                </a:solidFill>
                <a:latin typeface="Arial" pitchFamily="34" charset="0"/>
                <a:ea typeface="Arial" pitchFamily="34" charset="-122"/>
                <a:cs typeface="Arial" pitchFamily="34" charset="-120"/>
              </a:rPr>
              <a:t>Quality drives productivity — rework is the real time killer</a:t>
            </a:r>
            <a:endParaRPr lang="en-US" sz="1600" dirty="0"/>
          </a:p>
        </p:txBody>
      </p:sp>
      <p:sp>
        <p:nvSpPr>
          <p:cNvPr id="7" name="Shape 5"/>
          <p:cNvSpPr/>
          <p:nvPr/>
        </p:nvSpPr>
        <p:spPr>
          <a:xfrm>
            <a:off x="785813" y="2514005"/>
            <a:ext cx="0" cy="304651"/>
          </a:xfrm>
          <a:prstGeom prst="line">
            <a:avLst/>
          </a:prstGeom>
          <a:noFill/>
          <a:ln w="47625">
            <a:solidFill>
              <a:srgbClr val="E33737"/>
            </a:solidFill>
            <a:prstDash val="solid"/>
          </a:ln>
        </p:spPr>
        <p:txBody>
          <a:bodyPr/>
          <a:lstStyle/>
          <a:p>
            <a:endParaRPr lang="en-NL"/>
          </a:p>
        </p:txBody>
      </p:sp>
      <p:sp>
        <p:nvSpPr>
          <p:cNvPr id="8" name="Text 6"/>
          <p:cNvSpPr/>
          <p:nvPr/>
        </p:nvSpPr>
        <p:spPr>
          <a:xfrm>
            <a:off x="1063526" y="2514005"/>
            <a:ext cx="7464844" cy="304651"/>
          </a:xfrm>
          <a:prstGeom prst="rect">
            <a:avLst/>
          </a:prstGeom>
          <a:noFill/>
          <a:ln/>
        </p:spPr>
        <p:txBody>
          <a:bodyPr wrap="square" lIns="0" tIns="0" rIns="0" bIns="0" rtlCol="0" anchor="t"/>
          <a:lstStyle/>
          <a:p>
            <a:pPr marL="0" indent="0" algn="l">
              <a:lnSpc>
                <a:spcPts val="2400"/>
              </a:lnSpc>
              <a:buNone/>
            </a:pPr>
            <a:r>
              <a:rPr lang="en-US" sz="1600" dirty="0">
                <a:solidFill>
                  <a:srgbClr val="FFFFFF"/>
                </a:solidFill>
                <a:latin typeface="Arial" pitchFamily="34" charset="0"/>
                <a:ea typeface="Arial" pitchFamily="34" charset="-122"/>
                <a:cs typeface="Arial" pitchFamily="34" charset="-120"/>
              </a:rPr>
              <a:t>Skills scale your domain expertise across projects</a:t>
            </a:r>
            <a:endParaRPr lang="en-US" sz="1600" dirty="0"/>
          </a:p>
        </p:txBody>
      </p:sp>
      <p:sp>
        <p:nvSpPr>
          <p:cNvPr id="9" name="Shape 7"/>
          <p:cNvSpPr/>
          <p:nvPr/>
        </p:nvSpPr>
        <p:spPr>
          <a:xfrm>
            <a:off x="785813" y="3072557"/>
            <a:ext cx="0" cy="304651"/>
          </a:xfrm>
          <a:prstGeom prst="line">
            <a:avLst/>
          </a:prstGeom>
          <a:noFill/>
          <a:ln w="47625">
            <a:solidFill>
              <a:srgbClr val="E33737"/>
            </a:solidFill>
            <a:prstDash val="solid"/>
          </a:ln>
        </p:spPr>
        <p:txBody>
          <a:bodyPr/>
          <a:lstStyle/>
          <a:p>
            <a:endParaRPr lang="en-NL"/>
          </a:p>
        </p:txBody>
      </p:sp>
      <p:sp>
        <p:nvSpPr>
          <p:cNvPr id="10" name="Text 8"/>
          <p:cNvSpPr/>
          <p:nvPr/>
        </p:nvSpPr>
        <p:spPr>
          <a:xfrm>
            <a:off x="1063526" y="3072557"/>
            <a:ext cx="7464844" cy="304651"/>
          </a:xfrm>
          <a:prstGeom prst="rect">
            <a:avLst/>
          </a:prstGeom>
          <a:noFill/>
          <a:ln/>
        </p:spPr>
        <p:txBody>
          <a:bodyPr wrap="square" lIns="0" tIns="0" rIns="0" bIns="0" rtlCol="0" anchor="t"/>
          <a:lstStyle/>
          <a:p>
            <a:pPr marL="0" indent="0" algn="l">
              <a:lnSpc>
                <a:spcPts val="2400"/>
              </a:lnSpc>
              <a:buNone/>
            </a:pPr>
            <a:r>
              <a:rPr lang="en-US" sz="1600" dirty="0">
                <a:solidFill>
                  <a:srgbClr val="FFFFFF"/>
                </a:solidFill>
                <a:latin typeface="Arial" pitchFamily="34" charset="0"/>
                <a:ea typeface="Arial" pitchFamily="34" charset="-122"/>
                <a:cs typeface="Arial" pitchFamily="34" charset="-120"/>
              </a:rPr>
              <a:t>Invest in tooling evolution — what works today may not work next month</a:t>
            </a:r>
            <a:endParaRPr lang="en-US" sz="1600" dirty="0"/>
          </a:p>
        </p:txBody>
      </p:sp>
      <p:sp>
        <p:nvSpPr>
          <p:cNvPr id="11" name="Shape 9"/>
          <p:cNvSpPr/>
          <p:nvPr/>
        </p:nvSpPr>
        <p:spPr>
          <a:xfrm>
            <a:off x="762000" y="4035623"/>
            <a:ext cx="7620000" cy="0"/>
          </a:xfrm>
          <a:prstGeom prst="line">
            <a:avLst/>
          </a:prstGeom>
          <a:noFill/>
          <a:ln w="19050">
            <a:solidFill>
              <a:srgbClr val="E33737"/>
            </a:solidFill>
            <a:prstDash val="solid"/>
          </a:ln>
        </p:spPr>
        <p:txBody>
          <a:bodyPr/>
          <a:lstStyle/>
          <a:p>
            <a:endParaRPr lang="en-NL"/>
          </a:p>
        </p:txBody>
      </p:sp>
      <p:sp>
        <p:nvSpPr>
          <p:cNvPr id="12" name="Text 10"/>
          <p:cNvSpPr/>
          <p:nvPr/>
        </p:nvSpPr>
        <p:spPr>
          <a:xfrm>
            <a:off x="762000" y="4222849"/>
            <a:ext cx="7772400" cy="209550"/>
          </a:xfrm>
          <a:prstGeom prst="rect">
            <a:avLst/>
          </a:prstGeom>
          <a:noFill/>
          <a:ln/>
        </p:spPr>
        <p:txBody>
          <a:bodyPr wrap="square" lIns="0" tIns="0" rIns="0" bIns="0" rtlCol="0" anchor="t"/>
          <a:lstStyle/>
          <a:p>
            <a:pPr marL="0" indent="0" algn="l">
              <a:spcAft>
                <a:spcPts val="600"/>
              </a:spcAft>
              <a:buNone/>
            </a:pPr>
            <a:r>
              <a:rPr lang="en-US" sz="1400" dirty="0">
                <a:solidFill>
                  <a:srgbClr val="CCCBCB"/>
                </a:solidFill>
                <a:latin typeface="Arial" pitchFamily="34" charset="0"/>
                <a:ea typeface="Arial" pitchFamily="34" charset="-122"/>
                <a:cs typeface="Arial" pitchFamily="34" charset="-120"/>
              </a:rPr>
              <a:t>Let me show you what this looks like in practice...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844</Words>
  <Application>Microsoft Macintosh PowerPoint</Application>
  <PresentationFormat>On-screen Show (16:9)</PresentationFormat>
  <Paragraphs>153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Turning Claude Code into a Software Factory</dc:title>
  <dc:subject>PptxGenJS Presentation</dc:subject>
  <dc:creator>Jaap Branderhorst</dc:creator>
  <cp:lastModifiedBy>Jaap Branderhorst</cp:lastModifiedBy>
  <cp:revision>2</cp:revision>
  <dcterms:created xsi:type="dcterms:W3CDTF">2026-03-30T08:47:59Z</dcterms:created>
  <dcterms:modified xsi:type="dcterms:W3CDTF">2026-03-30T09:02:52Z</dcterms:modified>
</cp:coreProperties>
</file>